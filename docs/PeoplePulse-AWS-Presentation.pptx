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a4a1355-bb84-f4ba-3d78-1b0c1d36cff9}">
          <p14:sldIdLst>
            <p14:sldId id="256"/>
            <p14:sldId id="257"/>
            <p14:sldId id="258"/>
          </p14:sldIdLst>
        </p14:section>
        <p14:section name="Architecture" id="{c1d50a2d-0692-7a1e-eb47-11235d0fb005}">
          <p14:sldIdLst>
            <p14:sldId id="259"/>
            <p14:sldId id="260"/>
            <p14:sldId id="261"/>
          </p14:sldIdLst>
        </p14:section>
        <p14:section name="Delivery" id="{261e4f40-f724-acdb-3306-95192feb541a}">
          <p14:sldIdLst>
            <p14:sldId id="262"/>
            <p14:sldId id="263"/>
            <p14:sldId id="264"/>
          </p14:sldIdLst>
        </p14:section>
        <p14:section name="Operations" id="{c224e4d6-13c0-4c2c-976e-c49baa450b9b}">
          <p14:sldIdLst>
            <p14:sldId id="265"/>
            <p14:sldId id="266"/>
            <p14:sldId id="267"/>
            <p14:sldId id="268"/>
            <p14:sldId id="269"/>
            <p14:sldId id="270"/>
            <p14:sldId id="271"/>
          </p14:sldIdLst>
        </p14:section>
        <p14:section name="Close" id="{f181df24-c4f6-a59d-85e6-0f1c4891c75c}">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Estimated DEV cost per day (≈ $7)</a:t>
            </a:r>
          </a:p>
        </c:rich>
      </c:tx>
      <c:layout/>
      <c:overlay val="0"/>
    </c:title>
    <c:autoTitleDeleted val="0"/>
    <c:plotArea>
      <c:layout/>
      <c:barChart>
        <c:barDir val="bar"/>
        <c:grouping val="clustered"/>
        <c:varyColors val="0"/>
        <c:ser>
          <c:idx val="0"/>
          <c:order val="0"/>
          <c:tx>
            <c:strRef>
              <c:f>Sheet1!$B$1</c:f>
              <c:strCache>
                <c:ptCount val="1"/>
                <c:pt idx="0">
                  <c:v>USD per day</c:v>
                </c:pt>
              </c:strCache>
            </c:strRef>
          </c:tx>
          <c:spPr>
            <a:solidFill>
              <a:srgbClr val="1C7C7D"/>
            </a:solidFill>
            <a:effectLst/>
          </c:spPr>
          <c:invertIfNegative val="0"/>
          <c:dLbls>
            <c:numFmt formatCode="$0.00" sourceLinked="0"/>
            <c:txPr>
              <a:bodyPr/>
              <a:lstStyle/>
              <a:p>
                <a:pPr>
                  <a:defRPr b="0" i="0" strike="noStrike" sz="1200" u="none">
                    <a:solidFill>
                      <a:srgbClr val="0B3C49"/>
                    </a:solidFill>
                    <a:latin typeface="+mn-lt"/>
                  </a:defRPr>
                </a:pPr>
              </a:p>
            </c:txPr>
            <c:showLegendKey val="0"/>
            <c:showVal val="1"/>
            <c:showCatName val="0"/>
            <c:showSerName val="0"/>
            <c:showPercent val="0"/>
            <c:showBubbleSize val="0"/>
            <c:showLeaderLines val="0"/>
          </c:dLbls>
          <c:cat>
            <c:multiLvlStrRef>
              <c:f>Sheet1!$A$2:$A$7</c:f>
              <c:multiLvlStrCache>
                <c:ptCount val="6"/>
                <c:lvl>
                  <c:pt idx="0">
                    <c:v>EKS control plane</c:v>
                  </c:pt>
                  <c:pt idx="1">
                    <c:v>EC2 nodes (2× t4g.medium)</c:v>
                  </c:pt>
                  <c:pt idx="2">
                    <c:v>NAT gateway</c:v>
                  </c:pt>
                  <c:pt idx="3">
                    <c:v>Load balancer</c:v>
                  </c:pt>
                  <c:pt idx="4">
                    <c:v>RDS db.t4g.micro</c:v>
                  </c:pt>
                  <c:pt idx="5">
                    <c:v>Other (logs, KMS, ECR)</c:v>
                  </c:pt>
                </c:lvl>
              </c:multiLvlStrCache>
            </c:multiLvlStrRef>
          </c:cat>
          <c:val>
            <c:numRef>
              <c:f>Sheet1!$B$2:$B$7</c:f>
              <c:numCache>
                <c:formatCode>General</c:formatCode>
                <c:ptCount val="6"/>
                <c:pt idx="0">
                  <c:v>2.4</c:v>
                </c:pt>
                <c:pt idx="1">
                  <c:v>2</c:v>
                </c:pt>
                <c:pt idx="2">
                  <c:v>1.15</c:v>
                </c:pt>
                <c:pt idx="3">
                  <c:v>0.6</c:v>
                </c:pt>
                <c:pt idx="4">
                  <c:v>0.45</c:v>
                </c:pt>
                <c:pt idx="5">
                  <c:v>0.4</c:v>
                </c:pt>
              </c:numCache>
            </c:numRef>
          </c:val>
        </c:ser>
        <c:dLbls>
          <c:numFmt formatCode="$0.00" sourceLinked="0"/>
          <c:txPr>
            <a:bodyPr/>
            <a:lstStyle/>
            <a:p>
              <a:pPr>
                <a:defRPr b="0" i="0" strike="noStrike" sz="1200" u="none">
                  <a:solidFill>
                    <a:srgbClr val="0B3C4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7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PeoplePulse: a small employee-records product used as a vehicle to build a complete, production-shaped delivery path on AWS. The talk covers why it exists, how it is built, how a change travels from VS Code to EKS, and how it is run and paid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People plus Pulse, a live view of the workforce. Two purposes: a useful small product (one place for employee records instead of spreadsheets) and a reference implementation of the full DevOps lifecycle on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 end: React 19 + Vite served by nginx. Back end: FastAPI with Pydantic validation and SQLAlchemy over PostgreSQL. The same API also runs on a CSV file for quick local work. More than 120 automated test cases cover the API, both storage backends and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built on the last. Steps 1-3 run entirely on the laptop. Step 4 moved to AWS with everything defined in Terraform. Step 5 added cost visibility, because a cloud environment is only sustainable if you know what it costs and who created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numbers in order. 1: developer pushes to GitHub. 2: Jenkins, running in Docker on the Mac, polls GitHub. 3: Jenkins tests and builds arm64 images and pushes them to ECR with an immutable tag. 4: Jenkins reads settings from SSM and the database password from Secrets Manager, then runs helm upgrade into EKS. 5: users reach the app through the Application Load Balancer. Terraform, run from the laptop with profile PC1, creates and manages everything in the AWS box. The database sits in subnets with no internet route; only the EKS cluster security group can reach port 5432.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request left to right. The key design point is separation: the UI tier is stateless and public-facing through the ALB, the API tier holds the only credentials, and the database has no internet route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push to main is picked up within two minutes. Prepare verifies the AWS account is 866934333672 and loads environment settings from SSM Parameter Store, so nothing account-specific is hard-coded. Tests run in parallel inside Docker build stages. Images are built for arm64 because both the Mac and the Graviton nodes are ARM. The image tag combines the Jenkins build number and git commit, and ECR refuses to overwrite a tag. A manual approval gate protects the environment. Deploy turns the RDS password from Secrets Manager into a Kubernetes secret and runs helm upgrade with --wait. Smoke tests go through the real ALB, including a create-read-delete round trip, and a failure triggers helm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state into three roots means the expensive environment can be destroyed every evening without touching the image registry or the state bucket. Modules keep UAT and PROD a copy of envs/dev with different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us-west-1 offers two Availability Zones to most accounts, so the VPC spans both. The /16 is split into /20 blocks per tier per zone. Database subnets have no route to the internet and the RDS security group allows 5432 only from the EKS cluster security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AWS accounts are configured on the laptop, so the first control prevents deploying to the wrong one. The deploy user cannot touch anything outside the peoplepulse-dev namespace. The database password never leaves AWS: RDS generates and rotates it, Jenkins copies it into a Kubernetes secret at deploy time without printing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advisory lock solved a real bug: two API replicas starting together on an empty database both tried to create the table. Now schema creation and seeding happen in one transaction holding a Postgres advisory 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estimates for us-west-1; Cost Explorer has the real numbers. The EKS control plane and NAT gateway cost money even when idle, which is why the environment is destroyed after each working session. Tags make cost visible per person in a shared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ALB is not managed by Terraform, so helm uninstall must run before terraform destroy, otherwise the VPC cannot be deleted. Every Helm revision is kept, so rollback is one command and takes about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source, same images, same Helm chart. Only the values file and the pipeline differ, which is what makes the local lab a faithful rehearsal for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issue left a permanent fix in code or configuration, so it cannot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items are mostly configuration because the Terraform and Helm code already supports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outcome: a small product with a complete, secure and cost-aware delivery path on AWS, reproducible from code in about half an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_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383280"/>
            <a:ext cx="1005840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P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PeoplePulse  ·  AWS deployment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lIns="0" tIns="0" rIns="0" bIns="0" rtlCol="0" anchor="b"/>
          <a:lstStyle/>
          <a:p>
            <a:pPr algn="l" indent="0" marL="0">
              <a:buNone/>
            </a:pPr>
            <a:r>
              <a:rPr lang="en-US" sz="4800" b="1" dirty="0">
                <a:solidFill>
                  <a:schemeClr val="bg1"/>
                </a:solidFill>
              </a:rPr>
              <a:t>PeoplePulse on AWS</a:t>
            </a:r>
            <a:endParaRPr lang="en-US" sz="4800" dirty="0"/>
          </a:p>
        </p:txBody>
      </p:sp>
      <p:sp>
        <p:nvSpPr>
          <p:cNvPr id="3" name="Text 0"/>
          <p:cNvSpPr/>
          <p:nvPr>
            <p:ph idx="101" type="body" hasCustomPrompt="1"/>
          </p:nvPr>
        </p:nvSpPr>
        <p:spPr>
          <a:xfrm>
            <a:off x="731520" y="3383280"/>
            <a:ext cx="10058400" cy="1188720"/>
          </a:xfrm>
          <a:prstGeom prst="rect">
            <a:avLst/>
          </a:prstGeom>
          <a:noFill/>
          <a:ln/>
        </p:spPr>
        <p:txBody>
          <a:bodyPr wrap="square" lIns="0" tIns="0" rIns="0" bIns="0" rtlCol="0" anchor="t"/>
          <a:lstStyle/>
          <a:p>
            <a:pPr algn="l" indent="0" marL="0">
              <a:buNone/>
            </a:pPr>
            <a:r>
              <a:rPr lang="en-US" sz="2000" dirty="0">
                <a:solidFill>
                  <a:schemeClr val="bg2"/>
                </a:solidFill>
              </a:rPr>
              <a:t>From a git push to a running app on Amazon EKS: architecture, delivery pipeline and day-to-day operations</a:t>
            </a:r>
            <a:endParaRPr lang="en-US" sz="2000" dirty="0"/>
          </a:p>
        </p:txBody>
      </p:sp>
      <p:sp>
        <p:nvSpPr>
          <p:cNvPr id="4" name="logo circle"/>
          <p:cNvSpPr/>
          <p:nvPr/>
        </p:nvSpPr>
        <p:spPr>
          <a:xfrm>
            <a:off x="731520" y="731520"/>
            <a:ext cx="822960" cy="822960"/>
          </a:xfrm>
          <a:prstGeom prst="ellipse">
            <a:avLst/>
          </a:prstGeom>
          <a:solidFill>
            <a:schemeClr val="accent2"/>
          </a:solidFill>
          <a:ln w="12700">
            <a:solidFill>
              <a:schemeClr val="accent2"/>
            </a:solidFill>
            <a:prstDash val="solid"/>
          </a:ln>
        </p:spPr>
      </p:sp>
      <p:pic>
        <p:nvPicPr>
          <p:cNvPr id="5" name="logo icon" descr="preencoded.png">    </p:cNvPr>
          <p:cNvPicPr>
            <a:picLocks noChangeAspect="1"/>
          </p:cNvPicPr>
          <p:nvPr/>
        </p:nvPicPr>
        <p:blipFill>
          <a:blip r:embed="rId1"/>
          <a:stretch>
            <a:fillRect/>
          </a:stretch>
        </p:blipFill>
        <p:spPr>
          <a:xfrm>
            <a:off x="945490" y="945490"/>
            <a:ext cx="395021" cy="395021"/>
          </a:xfrm>
          <a:prstGeom prst="rect">
            <a:avLst/>
          </a:prstGeom>
        </p:spPr>
      </p:pic>
      <p:sp>
        <p:nvSpPr>
          <p:cNvPr id="6" name="byline"/>
          <p:cNvSpPr txBox="1"/>
          <p:nvPr/>
        </p:nvSpPr>
        <p:spPr>
          <a:xfrm>
            <a:off x="731520" y="5852160"/>
            <a:ext cx="7315200" cy="365760"/>
          </a:xfrm>
          <a:prstGeom prst="rect">
            <a:avLst/>
          </a:prstGeom>
          <a:noFill/>
          <a:ln/>
        </p:spPr>
        <p:txBody>
          <a:bodyPr wrap="square" lIns="0" tIns="0" rIns="0" bIns="0" rtlCol="0" anchor="ctr"/>
          <a:lstStyle/>
          <a:p>
            <a:pPr indent="0" marL="0">
              <a:buNone/>
            </a:pPr>
            <a:r>
              <a:rPr lang="en-US" sz="1400" dirty="0">
                <a:solidFill>
                  <a:schemeClr val="accent5"/>
                </a:solidFill>
              </a:rPr>
              <a:t>Saket Saurabh  ·  October 2026  ·  us-west-1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Why PeoplePulse exists</a:t>
            </a:r>
            <a:endParaRPr lang="en-US" sz="3200" dirty="0"/>
          </a:p>
        </p:txBody>
      </p:sp>
      <p:sp>
        <p:nvSpPr>
          <p:cNvPr id="3" name="tagline"/>
          <p:cNvSpPr txBox="1"/>
          <p:nvPr/>
        </p:nvSpPr>
        <p:spPr>
          <a:xfrm>
            <a:off x="548640" y="1325880"/>
            <a:ext cx="5120640" cy="1097280"/>
          </a:xfrm>
          <a:prstGeom prst="rect">
            <a:avLst/>
          </a:prstGeom>
          <a:noFill/>
          <a:ln/>
        </p:spPr>
        <p:txBody>
          <a:bodyPr wrap="square" lIns="0" tIns="0" rIns="0" bIns="0" rtlCol="0" anchor="ctr"/>
          <a:lstStyle/>
          <a:p>
            <a:pPr indent="0" marL="0">
              <a:buNone/>
            </a:pPr>
            <a:r>
              <a:rPr lang="en-US" sz="2600" b="1" dirty="0">
                <a:solidFill>
                  <a:schemeClr val="accent2"/>
                </a:solidFill>
              </a:rPr>
              <a:t>People + Pulse</a:t>
            </a:r>
            <a:endParaRPr lang="en-US" sz="2600" dirty="0"/>
          </a:p>
          <a:p>
            <a:pPr indent="0" marL="0">
              <a:buNone/>
            </a:pPr>
            <a:r>
              <a:rPr lang="en-US" sz="1800" i="1" dirty="0">
                <a:solidFill>
                  <a:schemeClr val="tx1"/>
                </a:solidFill>
              </a:rPr>
              <a:t>the live heartbeat of an organisation's workforce data</a:t>
            </a:r>
            <a:endParaRPr lang="en-US" sz="2600" dirty="0"/>
          </a:p>
        </p:txBody>
      </p:sp>
      <p:sp>
        <p:nvSpPr>
          <p:cNvPr id="4" name="purpose bullets"/>
          <p:cNvSpPr txBox="1"/>
          <p:nvPr/>
        </p:nvSpPr>
        <p:spPr>
          <a:xfrm>
            <a:off x="548640" y="2606040"/>
            <a:ext cx="5120640" cy="32918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Employee data often lives in spreadsheets and CSV files: copied, emailed, out of date</a:t>
            </a:r>
            <a:endParaRPr lang="en-US" sz="1600" dirty="0"/>
          </a:p>
          <a:p>
            <a:pPr marL="203200" indent="-203200">
              <a:spcAft>
                <a:spcPts val="600"/>
              </a:spcAft>
              <a:buSzPct val="100000"/>
              <a:buChar char="•"/>
            </a:pPr>
            <a:r>
              <a:rPr lang="en-US" sz="1600" dirty="0">
                <a:solidFill>
                  <a:schemeClr val="tx1"/>
                </a:solidFill>
              </a:rPr>
              <a:t>PeoplePulse gives one trusted place to view, search, add and update employee records</a:t>
            </a:r>
            <a:endParaRPr lang="en-US" sz="1600" dirty="0"/>
          </a:p>
          <a:p>
            <a:pPr marL="203200" indent="-203200">
              <a:spcAft>
                <a:spcPts val="600"/>
              </a:spcAft>
              <a:buSzPct val="100000"/>
              <a:buChar char="•"/>
            </a:pPr>
            <a:r>
              <a:rPr lang="en-US" sz="1600" dirty="0">
                <a:solidFill>
                  <a:schemeClr val="tx1"/>
                </a:solidFill>
              </a:rPr>
              <a:t>It also serves as a reference project: the same path a real product takes from laptop to cloud</a:t>
            </a:r>
            <a:endParaRPr lang="en-US" sz="1600" dirty="0"/>
          </a:p>
        </p:txBody>
      </p:sp>
      <p:sp>
        <p:nvSpPr>
          <p:cNvPr id="5" name="One source of truth card"/>
          <p:cNvSpPr/>
          <p:nvPr/>
        </p:nvSpPr>
        <p:spPr>
          <a:xfrm>
            <a:off x="6217920" y="1325880"/>
            <a:ext cx="5394960" cy="1463040"/>
          </a:xfrm>
          <a:prstGeom prst="roundRect">
            <a:avLst>
              <a:gd name="adj" fmla="val 7500"/>
            </a:avLst>
          </a:prstGeom>
          <a:solidFill>
            <a:schemeClr val="bg2"/>
          </a:solidFill>
          <a:ln w="12700">
            <a:solidFill>
              <a:schemeClr val="bg2"/>
            </a:solidFill>
            <a:prstDash val="solid"/>
          </a:ln>
        </p:spPr>
      </p:sp>
      <p:sp>
        <p:nvSpPr>
          <p:cNvPr id="6" name="One source of truth circle"/>
          <p:cNvSpPr/>
          <p:nvPr/>
        </p:nvSpPr>
        <p:spPr>
          <a:xfrm>
            <a:off x="6446520" y="1554480"/>
            <a:ext cx="548640" cy="548640"/>
          </a:xfrm>
          <a:prstGeom prst="ellipse">
            <a:avLst/>
          </a:prstGeom>
          <a:solidFill>
            <a:schemeClr val="accent1"/>
          </a:solidFill>
          <a:ln w="12700">
            <a:solidFill>
              <a:schemeClr val="accent1"/>
            </a:solidFill>
            <a:prstDash val="solid"/>
          </a:ln>
        </p:spPr>
      </p:sp>
      <p:pic>
        <p:nvPicPr>
          <p:cNvPr id="7" name="One source of truth icon" descr="preencoded.png">    </p:cNvPr>
          <p:cNvPicPr>
            <a:picLocks noChangeAspect="1"/>
          </p:cNvPicPr>
          <p:nvPr/>
        </p:nvPicPr>
        <p:blipFill>
          <a:blip r:embed="rId1"/>
          <a:stretch>
            <a:fillRect/>
          </a:stretch>
        </p:blipFill>
        <p:spPr>
          <a:xfrm>
            <a:off x="6589166" y="1697126"/>
            <a:ext cx="263347" cy="263347"/>
          </a:xfrm>
          <a:prstGeom prst="rect">
            <a:avLst/>
          </a:prstGeom>
        </p:spPr>
      </p:pic>
      <p:sp>
        <p:nvSpPr>
          <p:cNvPr id="8" name="One source of truth title"/>
          <p:cNvSpPr txBox="1"/>
          <p:nvPr/>
        </p:nvSpPr>
        <p:spPr>
          <a:xfrm>
            <a:off x="7132320" y="1527048"/>
            <a:ext cx="4297680" cy="594360"/>
          </a:xfrm>
          <a:prstGeom prst="rect">
            <a:avLst/>
          </a:prstGeom>
          <a:noFill/>
          <a:ln/>
        </p:spPr>
        <p:txBody>
          <a:bodyPr wrap="square" lIns="0" tIns="0" rIns="0" bIns="0" rtlCol="0" anchor="ctr"/>
          <a:lstStyle/>
          <a:p>
            <a:pPr indent="0" marL="0">
              <a:buNone/>
            </a:pPr>
            <a:r>
              <a:rPr lang="en-US" sz="1600" b="1" dirty="0">
                <a:solidFill>
                  <a:schemeClr val="tx1"/>
                </a:solidFill>
              </a:rPr>
              <a:t>One source of truth</a:t>
            </a:r>
            <a:endParaRPr lang="en-US" sz="1600" dirty="0"/>
          </a:p>
        </p:txBody>
      </p:sp>
      <p:sp>
        <p:nvSpPr>
          <p:cNvPr id="9" name="One source of truth text"/>
          <p:cNvSpPr txBox="1"/>
          <p:nvPr/>
        </p:nvSpPr>
        <p:spPr>
          <a:xfrm>
            <a:off x="6446520" y="2240280"/>
            <a:ext cx="4937760" cy="411480"/>
          </a:xfrm>
          <a:prstGeom prst="rect">
            <a:avLst/>
          </a:prstGeom>
          <a:noFill/>
          <a:ln/>
        </p:spPr>
        <p:txBody>
          <a:bodyPr wrap="square" lIns="0" tIns="0" rIns="0" bIns="0" rtlCol="0" anchor="t"/>
          <a:lstStyle/>
          <a:p>
            <a:pPr indent="0" marL="0">
              <a:buNone/>
            </a:pPr>
            <a:r>
              <a:rPr lang="en-US" sz="1400" dirty="0">
                <a:solidFill>
                  <a:schemeClr val="tx1"/>
                </a:solidFill>
              </a:rPr>
              <a:t>Records in PostgreSQL with unique, validated emails, not scattered files</a:t>
            </a:r>
            <a:endParaRPr lang="en-US" sz="1400" dirty="0"/>
          </a:p>
        </p:txBody>
      </p:sp>
      <p:sp>
        <p:nvSpPr>
          <p:cNvPr id="10" name="Self-service insight card"/>
          <p:cNvSpPr/>
          <p:nvPr/>
        </p:nvSpPr>
        <p:spPr>
          <a:xfrm>
            <a:off x="6217920" y="2971800"/>
            <a:ext cx="5394960" cy="1463040"/>
          </a:xfrm>
          <a:prstGeom prst="roundRect">
            <a:avLst>
              <a:gd name="adj" fmla="val 7500"/>
            </a:avLst>
          </a:prstGeom>
          <a:solidFill>
            <a:schemeClr val="bg2"/>
          </a:solidFill>
          <a:ln w="12700">
            <a:solidFill>
              <a:schemeClr val="bg2"/>
            </a:solidFill>
            <a:prstDash val="solid"/>
          </a:ln>
        </p:spPr>
      </p:sp>
      <p:sp>
        <p:nvSpPr>
          <p:cNvPr id="11" name="Self-service insight circle"/>
          <p:cNvSpPr/>
          <p:nvPr/>
        </p:nvSpPr>
        <p:spPr>
          <a:xfrm>
            <a:off x="6446520" y="3200400"/>
            <a:ext cx="548640" cy="548640"/>
          </a:xfrm>
          <a:prstGeom prst="ellipse">
            <a:avLst/>
          </a:prstGeom>
          <a:solidFill>
            <a:schemeClr val="accent1"/>
          </a:solidFill>
          <a:ln w="12700">
            <a:solidFill>
              <a:schemeClr val="accent1"/>
            </a:solidFill>
            <a:prstDash val="solid"/>
          </a:ln>
        </p:spPr>
      </p:sp>
      <p:pic>
        <p:nvPicPr>
          <p:cNvPr id="12" name="Self-service insight icon" descr="preencoded.png">    </p:cNvPr>
          <p:cNvPicPr>
            <a:picLocks noChangeAspect="1"/>
          </p:cNvPicPr>
          <p:nvPr/>
        </p:nvPicPr>
        <p:blipFill>
          <a:blip r:embed="rId2"/>
          <a:stretch>
            <a:fillRect/>
          </a:stretch>
        </p:blipFill>
        <p:spPr>
          <a:xfrm>
            <a:off x="6589166" y="3343046"/>
            <a:ext cx="263347" cy="263347"/>
          </a:xfrm>
          <a:prstGeom prst="rect">
            <a:avLst/>
          </a:prstGeom>
        </p:spPr>
      </p:pic>
      <p:sp>
        <p:nvSpPr>
          <p:cNvPr id="13" name="Self-service insight title"/>
          <p:cNvSpPr txBox="1"/>
          <p:nvPr/>
        </p:nvSpPr>
        <p:spPr>
          <a:xfrm>
            <a:off x="7132320" y="3172968"/>
            <a:ext cx="4297680" cy="594360"/>
          </a:xfrm>
          <a:prstGeom prst="rect">
            <a:avLst/>
          </a:prstGeom>
          <a:noFill/>
          <a:ln/>
        </p:spPr>
        <p:txBody>
          <a:bodyPr wrap="square" lIns="0" tIns="0" rIns="0" bIns="0" rtlCol="0" anchor="ctr"/>
          <a:lstStyle/>
          <a:p>
            <a:pPr indent="0" marL="0">
              <a:buNone/>
            </a:pPr>
            <a:r>
              <a:rPr lang="en-US" sz="1600" b="1" dirty="0">
                <a:solidFill>
                  <a:schemeClr val="tx1"/>
                </a:solidFill>
              </a:rPr>
              <a:t>Self-service insight</a:t>
            </a:r>
            <a:endParaRPr lang="en-US" sz="1600" dirty="0"/>
          </a:p>
        </p:txBody>
      </p:sp>
      <p:sp>
        <p:nvSpPr>
          <p:cNvPr id="14" name="Self-service insight text"/>
          <p:cNvSpPr txBox="1"/>
          <p:nvPr/>
        </p:nvSpPr>
        <p:spPr>
          <a:xfrm>
            <a:off x="6446520" y="3886200"/>
            <a:ext cx="4937760" cy="411480"/>
          </a:xfrm>
          <a:prstGeom prst="rect">
            <a:avLst/>
          </a:prstGeom>
          <a:noFill/>
          <a:ln/>
        </p:spPr>
        <p:txBody>
          <a:bodyPr wrap="square" lIns="0" tIns="0" rIns="0" bIns="0" rtlCol="0" anchor="t"/>
          <a:lstStyle/>
          <a:p>
            <a:pPr indent="0" marL="0">
              <a:buNone/>
            </a:pPr>
            <a:r>
              <a:rPr lang="en-US" sz="1400" dirty="0">
                <a:solidFill>
                  <a:schemeClr val="tx1"/>
                </a:solidFill>
              </a:rPr>
              <a:t>Dashboard with head-count, salary and city/department breakdowns, plus a REST API</a:t>
            </a:r>
            <a:endParaRPr lang="en-US" sz="1400" dirty="0"/>
          </a:p>
        </p:txBody>
      </p:sp>
      <p:sp>
        <p:nvSpPr>
          <p:cNvPr id="15" name="Production-grade delivery card"/>
          <p:cNvSpPr/>
          <p:nvPr/>
        </p:nvSpPr>
        <p:spPr>
          <a:xfrm>
            <a:off x="6217920" y="4617720"/>
            <a:ext cx="5394960" cy="1463040"/>
          </a:xfrm>
          <a:prstGeom prst="roundRect">
            <a:avLst>
              <a:gd name="adj" fmla="val 7500"/>
            </a:avLst>
          </a:prstGeom>
          <a:solidFill>
            <a:schemeClr val="bg2"/>
          </a:solidFill>
          <a:ln w="12700">
            <a:solidFill>
              <a:schemeClr val="bg2"/>
            </a:solidFill>
            <a:prstDash val="solid"/>
          </a:ln>
        </p:spPr>
      </p:sp>
      <p:sp>
        <p:nvSpPr>
          <p:cNvPr id="16" name="Production-grade delivery circle"/>
          <p:cNvSpPr/>
          <p:nvPr/>
        </p:nvSpPr>
        <p:spPr>
          <a:xfrm>
            <a:off x="6446520" y="4846320"/>
            <a:ext cx="548640" cy="548640"/>
          </a:xfrm>
          <a:prstGeom prst="ellipse">
            <a:avLst/>
          </a:prstGeom>
          <a:solidFill>
            <a:schemeClr val="accent2"/>
          </a:solidFill>
          <a:ln w="12700">
            <a:solidFill>
              <a:schemeClr val="accent2"/>
            </a:solidFill>
            <a:prstDash val="solid"/>
          </a:ln>
        </p:spPr>
      </p:sp>
      <p:pic>
        <p:nvPicPr>
          <p:cNvPr id="17" name="Production-grade delivery icon" descr="preencoded.png">    </p:cNvPr>
          <p:cNvPicPr>
            <a:picLocks noChangeAspect="1"/>
          </p:cNvPicPr>
          <p:nvPr/>
        </p:nvPicPr>
        <p:blipFill>
          <a:blip r:embed="rId3"/>
          <a:stretch>
            <a:fillRect/>
          </a:stretch>
        </p:blipFill>
        <p:spPr>
          <a:xfrm>
            <a:off x="6589166" y="4988966"/>
            <a:ext cx="263347" cy="263347"/>
          </a:xfrm>
          <a:prstGeom prst="rect">
            <a:avLst/>
          </a:prstGeom>
        </p:spPr>
      </p:pic>
      <p:sp>
        <p:nvSpPr>
          <p:cNvPr id="18" name="Production-grade delivery title"/>
          <p:cNvSpPr txBox="1"/>
          <p:nvPr/>
        </p:nvSpPr>
        <p:spPr>
          <a:xfrm>
            <a:off x="7132320" y="4818888"/>
            <a:ext cx="4297680" cy="594360"/>
          </a:xfrm>
          <a:prstGeom prst="rect">
            <a:avLst/>
          </a:prstGeom>
          <a:noFill/>
          <a:ln/>
        </p:spPr>
        <p:txBody>
          <a:bodyPr wrap="square" lIns="0" tIns="0" rIns="0" bIns="0" rtlCol="0" anchor="ctr"/>
          <a:lstStyle/>
          <a:p>
            <a:pPr indent="0" marL="0">
              <a:buNone/>
            </a:pPr>
            <a:r>
              <a:rPr lang="en-US" sz="1600" b="1" dirty="0">
                <a:solidFill>
                  <a:schemeClr val="tx1"/>
                </a:solidFill>
              </a:rPr>
              <a:t>Production-grade delivery</a:t>
            </a:r>
            <a:endParaRPr lang="en-US" sz="1600" dirty="0"/>
          </a:p>
        </p:txBody>
      </p:sp>
      <p:sp>
        <p:nvSpPr>
          <p:cNvPr id="19" name="Production-grade delivery text"/>
          <p:cNvSpPr txBox="1"/>
          <p:nvPr/>
        </p:nvSpPr>
        <p:spPr>
          <a:xfrm>
            <a:off x="6446520" y="5532120"/>
            <a:ext cx="4937760" cy="411480"/>
          </a:xfrm>
          <a:prstGeom prst="rect">
            <a:avLst/>
          </a:prstGeom>
          <a:noFill/>
          <a:ln/>
        </p:spPr>
        <p:txBody>
          <a:bodyPr wrap="square" lIns="0" tIns="0" rIns="0" bIns="0" rtlCol="0" anchor="t"/>
          <a:lstStyle/>
          <a:p>
            <a:pPr indent="0" marL="0">
              <a:buNone/>
            </a:pPr>
            <a:r>
              <a:rPr lang="en-US" sz="1400" dirty="0">
                <a:solidFill>
                  <a:schemeClr val="tx1"/>
                </a:solidFill>
              </a:rPr>
              <a:t>Every change tested, versioned, approved and deployed by a pipeline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the product does</a:t>
            </a:r>
            <a:endParaRPr lang="en-US" sz="3200" dirty="0"/>
          </a:p>
        </p:txBody>
      </p:sp>
      <p:sp>
        <p:nvSpPr>
          <p:cNvPr id="3" name="Live dashboard card"/>
          <p:cNvSpPr/>
          <p:nvPr/>
        </p:nvSpPr>
        <p:spPr>
          <a:xfrm>
            <a:off x="548640" y="1371600"/>
            <a:ext cx="3474720" cy="2103120"/>
          </a:xfrm>
          <a:prstGeom prst="roundRect">
            <a:avLst>
              <a:gd name="adj" fmla="val 5217"/>
            </a:avLst>
          </a:prstGeom>
          <a:solidFill>
            <a:schemeClr val="bg2"/>
          </a:solidFill>
          <a:ln w="12700">
            <a:solidFill>
              <a:schemeClr val="bg2"/>
            </a:solidFill>
            <a:prstDash val="solid"/>
          </a:ln>
        </p:spPr>
      </p:sp>
      <p:sp>
        <p:nvSpPr>
          <p:cNvPr id="4" name="Live dashboard circle"/>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5" name="Live dashboard icon" descr="preencoded.png">    </p:cNvPr>
          <p:cNvPicPr>
            <a:picLocks noChangeAspect="1"/>
          </p:cNvPicPr>
          <p:nvPr/>
        </p:nvPicPr>
        <p:blipFill>
          <a:blip r:embed="rId1"/>
          <a:stretch>
            <a:fillRect/>
          </a:stretch>
        </p:blipFill>
        <p:spPr>
          <a:xfrm>
            <a:off x="919886" y="1742846"/>
            <a:ext cx="263347" cy="263347"/>
          </a:xfrm>
          <a:prstGeom prst="rect">
            <a:avLst/>
          </a:prstGeom>
        </p:spPr>
      </p:pic>
      <p:sp>
        <p:nvSpPr>
          <p:cNvPr id="6" name="Live dashboard title"/>
          <p:cNvSpPr txBox="1"/>
          <p:nvPr/>
        </p:nvSpPr>
        <p:spPr>
          <a:xfrm>
            <a:off x="1463040" y="157276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Live dashboard</a:t>
            </a:r>
            <a:endParaRPr lang="en-US" sz="1600" dirty="0"/>
          </a:p>
        </p:txBody>
      </p:sp>
      <p:sp>
        <p:nvSpPr>
          <p:cNvPr id="7" name="Live dashboard text"/>
          <p:cNvSpPr txBox="1"/>
          <p:nvPr/>
        </p:nvSpPr>
        <p:spPr>
          <a:xfrm>
            <a:off x="777240" y="2286000"/>
            <a:ext cx="3017520" cy="1051560"/>
          </a:xfrm>
          <a:prstGeom prst="rect">
            <a:avLst/>
          </a:prstGeom>
          <a:noFill/>
          <a:ln/>
        </p:spPr>
        <p:txBody>
          <a:bodyPr wrap="square" lIns="0" tIns="0" rIns="0" bIns="0" rtlCol="0" anchor="t"/>
          <a:lstStyle/>
          <a:p>
            <a:pPr indent="0" marL="0">
              <a:buNone/>
            </a:pPr>
            <a:r>
              <a:rPr lang="en-US" sz="1400" dirty="0">
                <a:solidFill>
                  <a:schemeClr val="tx1"/>
                </a:solidFill>
              </a:rPr>
              <a:t>Totals, active vs inactive, average salary and salary range</a:t>
            </a:r>
            <a:endParaRPr lang="en-US" sz="1400" dirty="0"/>
          </a:p>
        </p:txBody>
      </p:sp>
      <p:sp>
        <p:nvSpPr>
          <p:cNvPr id="8" name="Search and filter card"/>
          <p:cNvSpPr/>
          <p:nvPr/>
        </p:nvSpPr>
        <p:spPr>
          <a:xfrm>
            <a:off x="4297680" y="1371600"/>
            <a:ext cx="3474720" cy="2103120"/>
          </a:xfrm>
          <a:prstGeom prst="roundRect">
            <a:avLst>
              <a:gd name="adj" fmla="val 5217"/>
            </a:avLst>
          </a:prstGeom>
          <a:solidFill>
            <a:schemeClr val="bg2"/>
          </a:solidFill>
          <a:ln w="12700">
            <a:solidFill>
              <a:schemeClr val="bg2"/>
            </a:solidFill>
            <a:prstDash val="solid"/>
          </a:ln>
        </p:spPr>
      </p:sp>
      <p:sp>
        <p:nvSpPr>
          <p:cNvPr id="9" name="Search and filter circle"/>
          <p:cNvSpPr/>
          <p:nvPr/>
        </p:nvSpPr>
        <p:spPr>
          <a:xfrm>
            <a:off x="4526280" y="1600200"/>
            <a:ext cx="548640" cy="548640"/>
          </a:xfrm>
          <a:prstGeom prst="ellipse">
            <a:avLst/>
          </a:prstGeom>
          <a:solidFill>
            <a:schemeClr val="accent1"/>
          </a:solidFill>
          <a:ln w="12700">
            <a:solidFill>
              <a:schemeClr val="accent1"/>
            </a:solidFill>
            <a:prstDash val="solid"/>
          </a:ln>
        </p:spPr>
      </p:sp>
      <p:pic>
        <p:nvPicPr>
          <p:cNvPr id="10" name="Search and filter icon" descr="preencoded.png">    </p:cNvPr>
          <p:cNvPicPr>
            <a:picLocks noChangeAspect="1"/>
          </p:cNvPicPr>
          <p:nvPr/>
        </p:nvPicPr>
        <p:blipFill>
          <a:blip r:embed="rId2"/>
          <a:stretch>
            <a:fillRect/>
          </a:stretch>
        </p:blipFill>
        <p:spPr>
          <a:xfrm>
            <a:off x="4668926" y="1742846"/>
            <a:ext cx="263347" cy="263347"/>
          </a:xfrm>
          <a:prstGeom prst="rect">
            <a:avLst/>
          </a:prstGeom>
        </p:spPr>
      </p:pic>
      <p:sp>
        <p:nvSpPr>
          <p:cNvPr id="11" name="Search and filter title"/>
          <p:cNvSpPr txBox="1"/>
          <p:nvPr/>
        </p:nvSpPr>
        <p:spPr>
          <a:xfrm>
            <a:off x="5212080" y="157276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Search and filter</a:t>
            </a:r>
            <a:endParaRPr lang="en-US" sz="1600" dirty="0"/>
          </a:p>
        </p:txBody>
      </p:sp>
      <p:sp>
        <p:nvSpPr>
          <p:cNvPr id="12" name="Search and filter text"/>
          <p:cNvSpPr txBox="1"/>
          <p:nvPr/>
        </p:nvSpPr>
        <p:spPr>
          <a:xfrm>
            <a:off x="4526280" y="2286000"/>
            <a:ext cx="3017520" cy="1051560"/>
          </a:xfrm>
          <a:prstGeom prst="rect">
            <a:avLst/>
          </a:prstGeom>
          <a:noFill/>
          <a:ln/>
        </p:spPr>
        <p:txBody>
          <a:bodyPr wrap="square" lIns="0" tIns="0" rIns="0" bIns="0" rtlCol="0" anchor="t"/>
          <a:lstStyle/>
          <a:p>
            <a:pPr indent="0" marL="0">
              <a:buNone/>
            </a:pPr>
            <a:r>
              <a:rPr lang="en-US" sz="1400" dirty="0">
                <a:solidFill>
                  <a:schemeClr val="tx1"/>
                </a:solidFill>
              </a:rPr>
              <a:t>By name, email, role, department, city, status and salary</a:t>
            </a:r>
            <a:endParaRPr lang="en-US" sz="1400" dirty="0"/>
          </a:p>
        </p:txBody>
      </p:sp>
      <p:sp>
        <p:nvSpPr>
          <p:cNvPr id="13" name="Full record management card"/>
          <p:cNvSpPr/>
          <p:nvPr/>
        </p:nvSpPr>
        <p:spPr>
          <a:xfrm>
            <a:off x="8046720" y="1371600"/>
            <a:ext cx="3474720" cy="2103120"/>
          </a:xfrm>
          <a:prstGeom prst="roundRect">
            <a:avLst>
              <a:gd name="adj" fmla="val 5217"/>
            </a:avLst>
          </a:prstGeom>
          <a:solidFill>
            <a:schemeClr val="bg2"/>
          </a:solidFill>
          <a:ln w="12700">
            <a:solidFill>
              <a:schemeClr val="bg2"/>
            </a:solidFill>
            <a:prstDash val="solid"/>
          </a:ln>
        </p:spPr>
      </p:sp>
      <p:sp>
        <p:nvSpPr>
          <p:cNvPr id="14" name="Full record management circle"/>
          <p:cNvSpPr/>
          <p:nvPr/>
        </p:nvSpPr>
        <p:spPr>
          <a:xfrm>
            <a:off x="8275320" y="1600200"/>
            <a:ext cx="548640" cy="548640"/>
          </a:xfrm>
          <a:prstGeom prst="ellipse">
            <a:avLst/>
          </a:prstGeom>
          <a:solidFill>
            <a:schemeClr val="accent1"/>
          </a:solidFill>
          <a:ln w="12700">
            <a:solidFill>
              <a:schemeClr val="accent1"/>
            </a:solidFill>
            <a:prstDash val="solid"/>
          </a:ln>
        </p:spPr>
      </p:sp>
      <p:pic>
        <p:nvPicPr>
          <p:cNvPr id="15" name="Full record management icon" descr="preencoded.png">    </p:cNvPr>
          <p:cNvPicPr>
            <a:picLocks noChangeAspect="1"/>
          </p:cNvPicPr>
          <p:nvPr/>
        </p:nvPicPr>
        <p:blipFill>
          <a:blip r:embed="rId3"/>
          <a:stretch>
            <a:fillRect/>
          </a:stretch>
        </p:blipFill>
        <p:spPr>
          <a:xfrm>
            <a:off x="8417966" y="1742846"/>
            <a:ext cx="263347" cy="263347"/>
          </a:xfrm>
          <a:prstGeom prst="rect">
            <a:avLst/>
          </a:prstGeom>
        </p:spPr>
      </p:pic>
      <p:sp>
        <p:nvSpPr>
          <p:cNvPr id="16" name="Full record management title"/>
          <p:cNvSpPr txBox="1"/>
          <p:nvPr/>
        </p:nvSpPr>
        <p:spPr>
          <a:xfrm>
            <a:off x="8961120" y="157276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Full record management</a:t>
            </a:r>
            <a:endParaRPr lang="en-US" sz="1600" dirty="0"/>
          </a:p>
        </p:txBody>
      </p:sp>
      <p:sp>
        <p:nvSpPr>
          <p:cNvPr id="17" name="Full record management text"/>
          <p:cNvSpPr txBox="1"/>
          <p:nvPr/>
        </p:nvSpPr>
        <p:spPr>
          <a:xfrm>
            <a:off x="8275320" y="2286000"/>
            <a:ext cx="3017520" cy="1051560"/>
          </a:xfrm>
          <a:prstGeom prst="rect">
            <a:avLst/>
          </a:prstGeom>
          <a:noFill/>
          <a:ln/>
        </p:spPr>
        <p:txBody>
          <a:bodyPr wrap="square" lIns="0" tIns="0" rIns="0" bIns="0" rtlCol="0" anchor="t"/>
          <a:lstStyle/>
          <a:p>
            <a:pPr indent="0" marL="0">
              <a:buNone/>
            </a:pPr>
            <a:r>
              <a:rPr lang="en-US" sz="1400" dirty="0">
                <a:solidFill>
                  <a:schemeClr val="tx1"/>
                </a:solidFill>
              </a:rPr>
              <a:t>Add, edit and delete employees with validation</a:t>
            </a:r>
            <a:endParaRPr lang="en-US" sz="1400" dirty="0"/>
          </a:p>
        </p:txBody>
      </p:sp>
      <p:sp>
        <p:nvSpPr>
          <p:cNvPr id="18" name="CSV export card"/>
          <p:cNvSpPr/>
          <p:nvPr/>
        </p:nvSpPr>
        <p:spPr>
          <a:xfrm>
            <a:off x="548640" y="3749040"/>
            <a:ext cx="3474720" cy="2103120"/>
          </a:xfrm>
          <a:prstGeom prst="roundRect">
            <a:avLst>
              <a:gd name="adj" fmla="val 5217"/>
            </a:avLst>
          </a:prstGeom>
          <a:solidFill>
            <a:schemeClr val="bg2"/>
          </a:solidFill>
          <a:ln w="12700">
            <a:solidFill>
              <a:schemeClr val="bg2"/>
            </a:solidFill>
            <a:prstDash val="solid"/>
          </a:ln>
        </p:spPr>
      </p:sp>
      <p:sp>
        <p:nvSpPr>
          <p:cNvPr id="19" name="CSV export circle"/>
          <p:cNvSpPr/>
          <p:nvPr/>
        </p:nvSpPr>
        <p:spPr>
          <a:xfrm>
            <a:off x="777240" y="3977640"/>
            <a:ext cx="548640" cy="548640"/>
          </a:xfrm>
          <a:prstGeom prst="ellipse">
            <a:avLst/>
          </a:prstGeom>
          <a:solidFill>
            <a:schemeClr val="accent1"/>
          </a:solidFill>
          <a:ln w="12700">
            <a:solidFill>
              <a:schemeClr val="accent1"/>
            </a:solidFill>
            <a:prstDash val="solid"/>
          </a:ln>
        </p:spPr>
      </p:sp>
      <p:pic>
        <p:nvPicPr>
          <p:cNvPr id="20" name="CSV export icon" descr="preencoded.png">    </p:cNvPr>
          <p:cNvPicPr>
            <a:picLocks noChangeAspect="1"/>
          </p:cNvPicPr>
          <p:nvPr/>
        </p:nvPicPr>
        <p:blipFill>
          <a:blip r:embed="rId4"/>
          <a:stretch>
            <a:fillRect/>
          </a:stretch>
        </p:blipFill>
        <p:spPr>
          <a:xfrm>
            <a:off x="919886" y="4120286"/>
            <a:ext cx="263347" cy="263347"/>
          </a:xfrm>
          <a:prstGeom prst="rect">
            <a:avLst/>
          </a:prstGeom>
        </p:spPr>
      </p:pic>
      <p:sp>
        <p:nvSpPr>
          <p:cNvPr id="21" name="CSV export title"/>
          <p:cNvSpPr txBox="1"/>
          <p:nvPr/>
        </p:nvSpPr>
        <p:spPr>
          <a:xfrm>
            <a:off x="1463040" y="395020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CSV export</a:t>
            </a:r>
            <a:endParaRPr lang="en-US" sz="1600" dirty="0"/>
          </a:p>
        </p:txBody>
      </p:sp>
      <p:sp>
        <p:nvSpPr>
          <p:cNvPr id="22" name="CSV export text"/>
          <p:cNvSpPr txBox="1"/>
          <p:nvPr/>
        </p:nvSpPr>
        <p:spPr>
          <a:xfrm>
            <a:off x="777240" y="4663440"/>
            <a:ext cx="3017520" cy="1051560"/>
          </a:xfrm>
          <a:prstGeom prst="rect">
            <a:avLst/>
          </a:prstGeom>
          <a:noFill/>
          <a:ln/>
        </p:spPr>
        <p:txBody>
          <a:bodyPr wrap="square" lIns="0" tIns="0" rIns="0" bIns="0" rtlCol="0" anchor="t"/>
          <a:lstStyle/>
          <a:p>
            <a:pPr indent="0" marL="0">
              <a:buNone/>
            </a:pPr>
            <a:r>
              <a:rPr lang="en-US" sz="1400" dirty="0">
                <a:solidFill>
                  <a:schemeClr val="tx1"/>
                </a:solidFill>
              </a:rPr>
              <a:t>Download the filtered view for reporting</a:t>
            </a:r>
            <a:endParaRPr lang="en-US" sz="1400" dirty="0"/>
          </a:p>
        </p:txBody>
      </p:sp>
      <p:sp>
        <p:nvSpPr>
          <p:cNvPr id="23" name="REST API + Swagger card"/>
          <p:cNvSpPr/>
          <p:nvPr/>
        </p:nvSpPr>
        <p:spPr>
          <a:xfrm>
            <a:off x="4297680" y="3749040"/>
            <a:ext cx="3474720" cy="2103120"/>
          </a:xfrm>
          <a:prstGeom prst="roundRect">
            <a:avLst>
              <a:gd name="adj" fmla="val 5217"/>
            </a:avLst>
          </a:prstGeom>
          <a:solidFill>
            <a:schemeClr val="bg2"/>
          </a:solidFill>
          <a:ln w="12700">
            <a:solidFill>
              <a:schemeClr val="bg2"/>
            </a:solidFill>
            <a:prstDash val="solid"/>
          </a:ln>
        </p:spPr>
      </p:sp>
      <p:sp>
        <p:nvSpPr>
          <p:cNvPr id="24" name="REST API + Swagger circle"/>
          <p:cNvSpPr/>
          <p:nvPr/>
        </p:nvSpPr>
        <p:spPr>
          <a:xfrm>
            <a:off x="4526280" y="3977640"/>
            <a:ext cx="548640" cy="548640"/>
          </a:xfrm>
          <a:prstGeom prst="ellipse">
            <a:avLst/>
          </a:prstGeom>
          <a:solidFill>
            <a:schemeClr val="accent1"/>
          </a:solidFill>
          <a:ln w="12700">
            <a:solidFill>
              <a:schemeClr val="accent1"/>
            </a:solidFill>
            <a:prstDash val="solid"/>
          </a:ln>
        </p:spPr>
      </p:sp>
      <p:pic>
        <p:nvPicPr>
          <p:cNvPr id="25" name="REST API + Swagger icon" descr="preencoded.png">    </p:cNvPr>
          <p:cNvPicPr>
            <a:picLocks noChangeAspect="1"/>
          </p:cNvPicPr>
          <p:nvPr/>
        </p:nvPicPr>
        <p:blipFill>
          <a:blip r:embed="rId5"/>
          <a:stretch>
            <a:fillRect/>
          </a:stretch>
        </p:blipFill>
        <p:spPr>
          <a:xfrm>
            <a:off x="4668926" y="4120286"/>
            <a:ext cx="263347" cy="263347"/>
          </a:xfrm>
          <a:prstGeom prst="rect">
            <a:avLst/>
          </a:prstGeom>
        </p:spPr>
      </p:pic>
      <p:sp>
        <p:nvSpPr>
          <p:cNvPr id="26" name="REST API + Swagger title"/>
          <p:cNvSpPr txBox="1"/>
          <p:nvPr/>
        </p:nvSpPr>
        <p:spPr>
          <a:xfrm>
            <a:off x="5212080" y="395020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REST API + Swagger</a:t>
            </a:r>
            <a:endParaRPr lang="en-US" sz="1600" dirty="0"/>
          </a:p>
        </p:txBody>
      </p:sp>
      <p:sp>
        <p:nvSpPr>
          <p:cNvPr id="27" name="REST API + Swagger text"/>
          <p:cNvSpPr txBox="1"/>
          <p:nvPr/>
        </p:nvSpPr>
        <p:spPr>
          <a:xfrm>
            <a:off x="4526280" y="4663440"/>
            <a:ext cx="3017520" cy="1051560"/>
          </a:xfrm>
          <a:prstGeom prst="rect">
            <a:avLst/>
          </a:prstGeom>
          <a:noFill/>
          <a:ln/>
        </p:spPr>
        <p:txBody>
          <a:bodyPr wrap="square" lIns="0" tIns="0" rIns="0" bIns="0" rtlCol="0" anchor="t"/>
          <a:lstStyle/>
          <a:p>
            <a:pPr indent="0" marL="0">
              <a:buNone/>
            </a:pPr>
            <a:r>
              <a:rPr lang="en-US" sz="1400" dirty="0">
                <a:solidFill>
                  <a:schemeClr val="tx1"/>
                </a:solidFill>
              </a:rPr>
              <a:t>/records, /records/stats, /departments, /health</a:t>
            </a:r>
            <a:endParaRPr lang="en-US" sz="1400" dirty="0"/>
          </a:p>
        </p:txBody>
      </p:sp>
      <p:sp>
        <p:nvSpPr>
          <p:cNvPr id="28" name="Protected writes card"/>
          <p:cNvSpPr/>
          <p:nvPr/>
        </p:nvSpPr>
        <p:spPr>
          <a:xfrm>
            <a:off x="8046720" y="3749040"/>
            <a:ext cx="3474720" cy="2103120"/>
          </a:xfrm>
          <a:prstGeom prst="roundRect">
            <a:avLst>
              <a:gd name="adj" fmla="val 5217"/>
            </a:avLst>
          </a:prstGeom>
          <a:solidFill>
            <a:schemeClr val="bg2"/>
          </a:solidFill>
          <a:ln w="12700">
            <a:solidFill>
              <a:schemeClr val="bg2"/>
            </a:solidFill>
            <a:prstDash val="solid"/>
          </a:ln>
        </p:spPr>
      </p:sp>
      <p:sp>
        <p:nvSpPr>
          <p:cNvPr id="29" name="Protected writes circle"/>
          <p:cNvSpPr/>
          <p:nvPr/>
        </p:nvSpPr>
        <p:spPr>
          <a:xfrm>
            <a:off x="8275320" y="3977640"/>
            <a:ext cx="548640" cy="548640"/>
          </a:xfrm>
          <a:prstGeom prst="ellipse">
            <a:avLst/>
          </a:prstGeom>
          <a:solidFill>
            <a:schemeClr val="accent1"/>
          </a:solidFill>
          <a:ln w="12700">
            <a:solidFill>
              <a:schemeClr val="accent1"/>
            </a:solidFill>
            <a:prstDash val="solid"/>
          </a:ln>
        </p:spPr>
      </p:sp>
      <p:pic>
        <p:nvPicPr>
          <p:cNvPr id="30" name="Protected writes icon" descr="preencoded.png">    </p:cNvPr>
          <p:cNvPicPr>
            <a:picLocks noChangeAspect="1"/>
          </p:cNvPicPr>
          <p:nvPr/>
        </p:nvPicPr>
        <p:blipFill>
          <a:blip r:embed="rId6"/>
          <a:stretch>
            <a:fillRect/>
          </a:stretch>
        </p:blipFill>
        <p:spPr>
          <a:xfrm>
            <a:off x="8417966" y="4120286"/>
            <a:ext cx="263347" cy="263347"/>
          </a:xfrm>
          <a:prstGeom prst="rect">
            <a:avLst/>
          </a:prstGeom>
        </p:spPr>
      </p:pic>
      <p:sp>
        <p:nvSpPr>
          <p:cNvPr id="31" name="Protected writes title"/>
          <p:cNvSpPr txBox="1"/>
          <p:nvPr/>
        </p:nvSpPr>
        <p:spPr>
          <a:xfrm>
            <a:off x="8961120" y="395020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Protected writes</a:t>
            </a:r>
            <a:endParaRPr lang="en-US" sz="1600" dirty="0"/>
          </a:p>
        </p:txBody>
      </p:sp>
      <p:sp>
        <p:nvSpPr>
          <p:cNvPr id="32" name="Protected writes text"/>
          <p:cNvSpPr txBox="1"/>
          <p:nvPr/>
        </p:nvSpPr>
        <p:spPr>
          <a:xfrm>
            <a:off x="8275320" y="4663440"/>
            <a:ext cx="3017520" cy="1051560"/>
          </a:xfrm>
          <a:prstGeom prst="rect">
            <a:avLst/>
          </a:prstGeom>
          <a:noFill/>
          <a:ln/>
        </p:spPr>
        <p:txBody>
          <a:bodyPr wrap="square" lIns="0" tIns="0" rIns="0" bIns="0" rtlCol="0" anchor="t"/>
          <a:lstStyle/>
          <a:p>
            <a:pPr indent="0" marL="0">
              <a:buNone/>
            </a:pPr>
            <a:r>
              <a:rPr lang="en-US" sz="1400" dirty="0">
                <a:solidFill>
                  <a:schemeClr val="tx1"/>
                </a:solidFill>
              </a:rPr>
              <a:t>Optional API key for POST, PUT, PATCH and DELETE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How the project grew, step by step</a:t>
            </a:r>
            <a:endParaRPr lang="en-US" sz="3200" dirty="0"/>
          </a:p>
        </p:txBody>
      </p:sp>
      <p:sp>
        <p:nvSpPr>
          <p:cNvPr id="3" name="timeline"/>
          <p:cNvSpPr/>
          <p:nvPr/>
        </p:nvSpPr>
        <p:spPr>
          <a:xfrm>
            <a:off x="822960" y="2331720"/>
            <a:ext cx="10607040" cy="0"/>
          </a:xfrm>
          <a:prstGeom prst="line">
            <a:avLst/>
          </a:prstGeom>
          <a:noFill/>
          <a:ln w="25400">
            <a:solidFill>
              <a:schemeClr val="accent5"/>
            </a:solidFill>
            <a:prstDash val="solid"/>
          </a:ln>
        </p:spPr>
      </p:sp>
      <p:sp>
        <p:nvSpPr>
          <p:cNvPr id="4" name="step 1 dot"/>
          <p:cNvSpPr/>
          <p:nvPr/>
        </p:nvSpPr>
        <p:spPr>
          <a:xfrm>
            <a:off x="1234440" y="1965960"/>
            <a:ext cx="731520" cy="731520"/>
          </a:xfrm>
          <a:prstGeom prst="ellipse">
            <a:avLst/>
          </a:prstGeom>
          <a:solidFill>
            <a:schemeClr val="tx2"/>
          </a:solidFill>
          <a:ln w="38100">
            <a:solidFill>
              <a:schemeClr val="bg1"/>
            </a:solidFill>
            <a:prstDash val="solid"/>
          </a:ln>
        </p:spPr>
      </p:sp>
      <p:sp>
        <p:nvSpPr>
          <p:cNvPr id="5" name="step 1 number"/>
          <p:cNvSpPr txBox="1"/>
          <p:nvPr/>
        </p:nvSpPr>
        <p:spPr>
          <a:xfrm>
            <a:off x="1234440" y="196596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step 1 title"/>
          <p:cNvSpPr txBox="1"/>
          <p:nvPr/>
        </p:nvSpPr>
        <p:spPr>
          <a:xfrm>
            <a:off x="548640" y="2926080"/>
            <a:ext cx="2103120" cy="457200"/>
          </a:xfrm>
          <a:prstGeom prst="rect">
            <a:avLst/>
          </a:prstGeom>
          <a:noFill/>
          <a:ln/>
        </p:spPr>
        <p:txBody>
          <a:bodyPr wrap="square" lIns="0" tIns="0" rIns="0" bIns="0" rtlCol="0" anchor="ctr"/>
          <a:lstStyle/>
          <a:p>
            <a:pPr algn="ctr" indent="0" marL="0">
              <a:buNone/>
            </a:pPr>
            <a:r>
              <a:rPr lang="en-US" sz="1700" b="1" dirty="0">
                <a:solidFill>
                  <a:schemeClr val="tx1"/>
                </a:solidFill>
              </a:rPr>
              <a:t>API + CSV</a:t>
            </a:r>
            <a:endParaRPr lang="en-US" sz="1700" dirty="0"/>
          </a:p>
        </p:txBody>
      </p:sp>
      <p:sp>
        <p:nvSpPr>
          <p:cNvPr id="7" name="step 1 text"/>
          <p:cNvSpPr txBox="1"/>
          <p:nvPr/>
        </p:nvSpPr>
        <p:spPr>
          <a:xfrm>
            <a:off x="640080" y="3429000"/>
            <a:ext cx="1920240" cy="1005840"/>
          </a:xfrm>
          <a:prstGeom prst="rect">
            <a:avLst/>
          </a:prstGeom>
          <a:noFill/>
          <a:ln/>
        </p:spPr>
        <p:txBody>
          <a:bodyPr wrap="square" lIns="0" tIns="0" rIns="0" bIns="0" rtlCol="0" anchor="t"/>
          <a:lstStyle/>
          <a:p>
            <a:pPr algn="ctr" indent="0" marL="0">
              <a:buNone/>
            </a:pPr>
            <a:r>
              <a:rPr lang="en-US" sz="1400" dirty="0">
                <a:solidFill>
                  <a:schemeClr val="accent6"/>
                </a:solidFill>
              </a:rPr>
              <a:t>FastAPI, pytest, Docker image, GitHub Actions CI</a:t>
            </a:r>
            <a:endParaRPr lang="en-US" sz="1400" dirty="0"/>
          </a:p>
        </p:txBody>
      </p:sp>
      <p:sp>
        <p:nvSpPr>
          <p:cNvPr id="8" name="step 2 dot"/>
          <p:cNvSpPr/>
          <p:nvPr/>
        </p:nvSpPr>
        <p:spPr>
          <a:xfrm>
            <a:off x="3474720" y="1965960"/>
            <a:ext cx="731520" cy="731520"/>
          </a:xfrm>
          <a:prstGeom prst="ellipse">
            <a:avLst/>
          </a:prstGeom>
          <a:solidFill>
            <a:schemeClr val="tx2"/>
          </a:solidFill>
          <a:ln w="38100">
            <a:solidFill>
              <a:schemeClr val="bg1"/>
            </a:solidFill>
            <a:prstDash val="solid"/>
          </a:ln>
        </p:spPr>
      </p:sp>
      <p:sp>
        <p:nvSpPr>
          <p:cNvPr id="9" name="step 2 number"/>
          <p:cNvSpPr txBox="1"/>
          <p:nvPr/>
        </p:nvSpPr>
        <p:spPr>
          <a:xfrm>
            <a:off x="3474720" y="196596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step 2 title"/>
          <p:cNvSpPr txBox="1"/>
          <p:nvPr/>
        </p:nvSpPr>
        <p:spPr>
          <a:xfrm>
            <a:off x="2788920" y="2926080"/>
            <a:ext cx="2103120" cy="457200"/>
          </a:xfrm>
          <a:prstGeom prst="rect">
            <a:avLst/>
          </a:prstGeom>
          <a:noFill/>
          <a:ln/>
        </p:spPr>
        <p:txBody>
          <a:bodyPr wrap="square" lIns="0" tIns="0" rIns="0" bIns="0" rtlCol="0" anchor="ctr"/>
          <a:lstStyle/>
          <a:p>
            <a:pPr algn="ctr" indent="0" marL="0">
              <a:buNone/>
            </a:pPr>
            <a:r>
              <a:rPr lang="en-US" sz="1700" b="1" dirty="0">
                <a:solidFill>
                  <a:schemeClr val="tx1"/>
                </a:solidFill>
              </a:rPr>
              <a:t>Local Kubernetes</a:t>
            </a:r>
            <a:endParaRPr lang="en-US" sz="1700" dirty="0"/>
          </a:p>
        </p:txBody>
      </p:sp>
      <p:sp>
        <p:nvSpPr>
          <p:cNvPr id="11" name="step 2 text"/>
          <p:cNvSpPr txBox="1"/>
          <p:nvPr/>
        </p:nvSpPr>
        <p:spPr>
          <a:xfrm>
            <a:off x="2880360" y="3429000"/>
            <a:ext cx="1920240" cy="1005840"/>
          </a:xfrm>
          <a:prstGeom prst="rect">
            <a:avLst/>
          </a:prstGeom>
          <a:noFill/>
          <a:ln/>
        </p:spPr>
        <p:txBody>
          <a:bodyPr wrap="square" lIns="0" tIns="0" rIns="0" bIns="0" rtlCol="0" anchor="t"/>
          <a:lstStyle/>
          <a:p>
            <a:pPr algn="ctr" indent="0" marL="0">
              <a:buNone/>
            </a:pPr>
            <a:r>
              <a:rPr lang="en-US" sz="1400" dirty="0">
                <a:solidFill>
                  <a:schemeClr val="accent6"/>
                </a:solidFill>
              </a:rPr>
              <a:t>Minikube, Jenkins in Docker, React UI</a:t>
            </a:r>
            <a:endParaRPr lang="en-US" sz="1400" dirty="0"/>
          </a:p>
        </p:txBody>
      </p:sp>
      <p:sp>
        <p:nvSpPr>
          <p:cNvPr id="12" name="step 3 dot"/>
          <p:cNvSpPr/>
          <p:nvPr/>
        </p:nvSpPr>
        <p:spPr>
          <a:xfrm>
            <a:off x="5715000" y="1965960"/>
            <a:ext cx="731520" cy="731520"/>
          </a:xfrm>
          <a:prstGeom prst="ellipse">
            <a:avLst/>
          </a:prstGeom>
          <a:solidFill>
            <a:schemeClr val="tx2"/>
          </a:solidFill>
          <a:ln w="38100">
            <a:solidFill>
              <a:schemeClr val="bg1"/>
            </a:solidFill>
            <a:prstDash val="solid"/>
          </a:ln>
        </p:spPr>
      </p:sp>
      <p:sp>
        <p:nvSpPr>
          <p:cNvPr id="13" name="step 3 number"/>
          <p:cNvSpPr txBox="1"/>
          <p:nvPr/>
        </p:nvSpPr>
        <p:spPr>
          <a:xfrm>
            <a:off x="5715000" y="196596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step 3 title"/>
          <p:cNvSpPr txBox="1"/>
          <p:nvPr/>
        </p:nvSpPr>
        <p:spPr>
          <a:xfrm>
            <a:off x="5029200" y="2926080"/>
            <a:ext cx="2103120" cy="457200"/>
          </a:xfrm>
          <a:prstGeom prst="rect">
            <a:avLst/>
          </a:prstGeom>
          <a:noFill/>
          <a:ln/>
        </p:spPr>
        <p:txBody>
          <a:bodyPr wrap="square" lIns="0" tIns="0" rIns="0" bIns="0" rtlCol="0" anchor="ctr"/>
          <a:lstStyle/>
          <a:p>
            <a:pPr algn="ctr" indent="0" marL="0">
              <a:buNone/>
            </a:pPr>
            <a:r>
              <a:rPr lang="en-US" sz="1700" b="1" dirty="0">
                <a:solidFill>
                  <a:schemeClr val="tx1"/>
                </a:solidFill>
              </a:rPr>
              <a:t>PostgreSQL</a:t>
            </a:r>
            <a:endParaRPr lang="en-US" sz="1700" dirty="0"/>
          </a:p>
        </p:txBody>
      </p:sp>
      <p:sp>
        <p:nvSpPr>
          <p:cNvPr id="15" name="step 3 text"/>
          <p:cNvSpPr txBox="1"/>
          <p:nvPr/>
        </p:nvSpPr>
        <p:spPr>
          <a:xfrm>
            <a:off x="5120640" y="3429000"/>
            <a:ext cx="1920240" cy="1005840"/>
          </a:xfrm>
          <a:prstGeom prst="rect">
            <a:avLst/>
          </a:prstGeom>
          <a:noFill/>
          <a:ln/>
        </p:spPr>
        <p:txBody>
          <a:bodyPr wrap="square" lIns="0" tIns="0" rIns="0" bIns="0" rtlCol="0" anchor="t"/>
          <a:lstStyle/>
          <a:p>
            <a:pPr algn="ctr" indent="0" marL="0">
              <a:buNone/>
            </a:pPr>
            <a:r>
              <a:rPr lang="en-US" sz="1400" dirty="0">
                <a:solidFill>
                  <a:schemeClr val="accent6"/>
                </a:solidFill>
              </a:rPr>
              <a:t>Real database, safe concurrent seeding</a:t>
            </a:r>
            <a:endParaRPr lang="en-US" sz="1400" dirty="0"/>
          </a:p>
        </p:txBody>
      </p:sp>
      <p:sp>
        <p:nvSpPr>
          <p:cNvPr id="16" name="step 4 dot"/>
          <p:cNvSpPr/>
          <p:nvPr/>
        </p:nvSpPr>
        <p:spPr>
          <a:xfrm>
            <a:off x="7955280" y="1965960"/>
            <a:ext cx="731520" cy="731520"/>
          </a:xfrm>
          <a:prstGeom prst="ellipse">
            <a:avLst/>
          </a:prstGeom>
          <a:solidFill>
            <a:schemeClr val="accent2"/>
          </a:solidFill>
          <a:ln w="38100">
            <a:solidFill>
              <a:schemeClr val="bg1"/>
            </a:solidFill>
            <a:prstDash val="solid"/>
          </a:ln>
        </p:spPr>
      </p:sp>
      <p:sp>
        <p:nvSpPr>
          <p:cNvPr id="17" name="step 4 number"/>
          <p:cNvSpPr txBox="1"/>
          <p:nvPr/>
        </p:nvSpPr>
        <p:spPr>
          <a:xfrm>
            <a:off x="7955280" y="196596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step 4 title"/>
          <p:cNvSpPr txBox="1"/>
          <p:nvPr/>
        </p:nvSpPr>
        <p:spPr>
          <a:xfrm>
            <a:off x="7269480" y="2926080"/>
            <a:ext cx="2103120" cy="457200"/>
          </a:xfrm>
          <a:prstGeom prst="rect">
            <a:avLst/>
          </a:prstGeom>
          <a:noFill/>
          <a:ln/>
        </p:spPr>
        <p:txBody>
          <a:bodyPr wrap="square" lIns="0" tIns="0" rIns="0" bIns="0" rtlCol="0" anchor="ctr"/>
          <a:lstStyle/>
          <a:p>
            <a:pPr algn="ctr" indent="0" marL="0">
              <a:buNone/>
            </a:pPr>
            <a:r>
              <a:rPr lang="en-US" sz="1700" b="1" dirty="0">
                <a:solidFill>
                  <a:schemeClr val="tx1"/>
                </a:solidFill>
              </a:rPr>
              <a:t>AWS with Terraform</a:t>
            </a:r>
            <a:endParaRPr lang="en-US" sz="1700" dirty="0"/>
          </a:p>
        </p:txBody>
      </p:sp>
      <p:sp>
        <p:nvSpPr>
          <p:cNvPr id="19" name="step 4 text"/>
          <p:cNvSpPr txBox="1"/>
          <p:nvPr/>
        </p:nvSpPr>
        <p:spPr>
          <a:xfrm>
            <a:off x="7360920" y="3429000"/>
            <a:ext cx="1920240" cy="1005840"/>
          </a:xfrm>
          <a:prstGeom prst="rect">
            <a:avLst/>
          </a:prstGeom>
          <a:noFill/>
          <a:ln/>
        </p:spPr>
        <p:txBody>
          <a:bodyPr wrap="square" lIns="0" tIns="0" rIns="0" bIns="0" rtlCol="0" anchor="t"/>
          <a:lstStyle/>
          <a:p>
            <a:pPr algn="ctr" indent="0" marL="0">
              <a:buNone/>
            </a:pPr>
            <a:r>
              <a:rPr lang="en-US" sz="1400" dirty="0">
                <a:solidFill>
                  <a:schemeClr val="accent6"/>
                </a:solidFill>
              </a:rPr>
              <a:t>VPC, EKS, RDS, ECR, ALB, IAM</a:t>
            </a:r>
            <a:endParaRPr lang="en-US" sz="1400" dirty="0"/>
          </a:p>
        </p:txBody>
      </p:sp>
      <p:sp>
        <p:nvSpPr>
          <p:cNvPr id="20" name="step 5 dot"/>
          <p:cNvSpPr/>
          <p:nvPr/>
        </p:nvSpPr>
        <p:spPr>
          <a:xfrm>
            <a:off x="10195560" y="1965960"/>
            <a:ext cx="731520" cy="731520"/>
          </a:xfrm>
          <a:prstGeom prst="ellipse">
            <a:avLst/>
          </a:prstGeom>
          <a:solidFill>
            <a:schemeClr val="tx2"/>
          </a:solidFill>
          <a:ln w="38100">
            <a:solidFill>
              <a:schemeClr val="bg1"/>
            </a:solidFill>
            <a:prstDash val="solid"/>
          </a:ln>
        </p:spPr>
      </p:sp>
      <p:sp>
        <p:nvSpPr>
          <p:cNvPr id="21" name="step 5 number"/>
          <p:cNvSpPr txBox="1"/>
          <p:nvPr/>
        </p:nvSpPr>
        <p:spPr>
          <a:xfrm>
            <a:off x="10195560" y="196596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2" name="step 5 title"/>
          <p:cNvSpPr txBox="1"/>
          <p:nvPr/>
        </p:nvSpPr>
        <p:spPr>
          <a:xfrm>
            <a:off x="9509760" y="2926080"/>
            <a:ext cx="2103120" cy="457200"/>
          </a:xfrm>
          <a:prstGeom prst="rect">
            <a:avLst/>
          </a:prstGeom>
          <a:noFill/>
          <a:ln/>
        </p:spPr>
        <p:txBody>
          <a:bodyPr wrap="square" lIns="0" tIns="0" rIns="0" bIns="0" rtlCol="0" anchor="ctr"/>
          <a:lstStyle/>
          <a:p>
            <a:pPr algn="ctr" indent="0" marL="0">
              <a:buNone/>
            </a:pPr>
            <a:r>
              <a:rPr lang="en-US" sz="1700" b="1" dirty="0">
                <a:solidFill>
                  <a:schemeClr val="tx1"/>
                </a:solidFill>
              </a:rPr>
              <a:t>Cost governance</a:t>
            </a:r>
            <a:endParaRPr lang="en-US" sz="1700" dirty="0"/>
          </a:p>
        </p:txBody>
      </p:sp>
      <p:sp>
        <p:nvSpPr>
          <p:cNvPr id="23" name="step 5 text"/>
          <p:cNvSpPr txBox="1"/>
          <p:nvPr/>
        </p:nvSpPr>
        <p:spPr>
          <a:xfrm>
            <a:off x="9601200" y="3429000"/>
            <a:ext cx="1920240" cy="1005840"/>
          </a:xfrm>
          <a:prstGeom prst="rect">
            <a:avLst/>
          </a:prstGeom>
          <a:noFill/>
          <a:ln/>
        </p:spPr>
        <p:txBody>
          <a:bodyPr wrap="square" lIns="0" tIns="0" rIns="0" bIns="0" rtlCol="0" anchor="t"/>
          <a:lstStyle/>
          <a:p>
            <a:pPr algn="ctr" indent="0" marL="0">
              <a:buNone/>
            </a:pPr>
            <a:r>
              <a:rPr lang="en-US" sz="1400" dirty="0">
                <a:solidFill>
                  <a:schemeClr val="accent6"/>
                </a:solidFill>
              </a:rPr>
              <a:t>Owner tags, aws:createdBy, budget alerts</a:t>
            </a:r>
            <a:endParaRPr lang="en-US" sz="1400" dirty="0"/>
          </a:p>
        </p:txBody>
      </p:sp>
      <p:sp>
        <p:nvSpPr>
          <p:cNvPr id="24" name="both paths box"/>
          <p:cNvSpPr/>
          <p:nvPr/>
        </p:nvSpPr>
        <p:spPr>
          <a:xfrm>
            <a:off x="548640" y="4846320"/>
            <a:ext cx="11064240" cy="1097280"/>
          </a:xfrm>
          <a:prstGeom prst="roundRect">
            <a:avLst>
              <a:gd name="adj" fmla="val 10000"/>
            </a:avLst>
          </a:prstGeom>
          <a:solidFill>
            <a:schemeClr val="bg2"/>
          </a:solidFill>
          <a:ln w="12700">
            <a:solidFill>
              <a:schemeClr val="bg2"/>
            </a:solidFill>
            <a:prstDash val="solid"/>
          </a:ln>
        </p:spPr>
      </p:sp>
      <p:sp>
        <p:nvSpPr>
          <p:cNvPr id="25" name="both paths text"/>
          <p:cNvSpPr txBox="1"/>
          <p:nvPr/>
        </p:nvSpPr>
        <p:spPr>
          <a:xfrm>
            <a:off x="822960" y="4846320"/>
            <a:ext cx="10515600" cy="1097280"/>
          </a:xfrm>
          <a:prstGeom prst="rect">
            <a:avLst/>
          </a:prstGeom>
          <a:noFill/>
          <a:ln/>
        </p:spPr>
        <p:txBody>
          <a:bodyPr wrap="square" lIns="0" tIns="0" rIns="0" bIns="0" rtlCol="0" anchor="ctr"/>
          <a:lstStyle/>
          <a:p>
            <a:pPr indent="0" marL="0">
              <a:buNone/>
            </a:pPr>
            <a:r>
              <a:rPr lang="en-US" sz="1600" b="1" dirty="0">
                <a:solidFill>
                  <a:schemeClr val="tx1"/>
                </a:solidFill>
              </a:rPr>
              <a:t>Both paths live in one repository. </a:t>
            </a:r>
            <a:pPr indent="0" marL="0">
              <a:buNone/>
            </a:pPr>
            <a:r>
              <a:rPr lang="en-US" sz="1600" dirty="0">
                <a:solidFill>
                  <a:schemeClr val="tx1"/>
                </a:solidFill>
              </a:rPr>
              <a:t>Jenkinsfile deploys to Minikube for local work; Jenkinsfile.aws deploys to EKS. Same images, same Helm chart, different values file.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End-to-end architecture on AWS</a:t>
            </a:r>
            <a:endParaRPr lang="en-US" sz="3200" dirty="0"/>
          </a:p>
        </p:txBody>
      </p:sp>
      <p:pic>
        <p:nvPicPr>
          <p:cNvPr id="3" name="architecture diagram" descr="architecture.png">    </p:cNvPr>
          <p:cNvPicPr>
            <a:picLocks noChangeAspect="1"/>
          </p:cNvPicPr>
          <p:nvPr/>
        </p:nvPicPr>
        <p:blipFill>
          <a:blip r:embed="rId1"/>
          <a:stretch>
            <a:fillRect/>
          </a:stretch>
        </p:blipFill>
        <p:spPr>
          <a:xfrm>
            <a:off x="1645920" y="1188720"/>
            <a:ext cx="8915400" cy="507546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How a request travels</a:t>
            </a:r>
            <a:endParaRPr lang="en-US" sz="3200" dirty="0"/>
          </a:p>
        </p:txBody>
      </p:sp>
      <p:sp>
        <p:nvSpPr>
          <p:cNvPr id="3" name="Browser box"/>
          <p:cNvSpPr/>
          <p:nvPr/>
        </p:nvSpPr>
        <p:spPr>
          <a:xfrm>
            <a:off x="548640" y="1463040"/>
            <a:ext cx="1965960" cy="2011680"/>
          </a:xfrm>
          <a:prstGeom prst="roundRect">
            <a:avLst>
              <a:gd name="adj" fmla="val 5581"/>
            </a:avLst>
          </a:prstGeom>
          <a:solidFill>
            <a:schemeClr val="bg2"/>
          </a:solidFill>
          <a:ln w="12700">
            <a:solidFill>
              <a:schemeClr val="bg2"/>
            </a:solidFill>
            <a:prstDash val="solid"/>
          </a:ln>
        </p:spPr>
      </p:sp>
      <p:sp>
        <p:nvSpPr>
          <p:cNvPr id="4" name="Browser circle"/>
          <p:cNvSpPr/>
          <p:nvPr/>
        </p:nvSpPr>
        <p:spPr>
          <a:xfrm>
            <a:off x="1211580" y="1645920"/>
            <a:ext cx="640080" cy="640080"/>
          </a:xfrm>
          <a:prstGeom prst="ellipse">
            <a:avLst/>
          </a:prstGeom>
          <a:solidFill>
            <a:schemeClr val="accent1"/>
          </a:solidFill>
          <a:ln w="12700">
            <a:solidFill>
              <a:schemeClr val="accent1"/>
            </a:solidFill>
            <a:prstDash val="solid"/>
          </a:ln>
        </p:spPr>
      </p:sp>
      <p:pic>
        <p:nvPicPr>
          <p:cNvPr id="5" name="Browser icon" descr="preencoded.png">    </p:cNvPr>
          <p:cNvPicPr>
            <a:picLocks noChangeAspect="1"/>
          </p:cNvPicPr>
          <p:nvPr/>
        </p:nvPicPr>
        <p:blipFill>
          <a:blip r:embed="rId1"/>
          <a:stretch>
            <a:fillRect/>
          </a:stretch>
        </p:blipFill>
        <p:spPr>
          <a:xfrm>
            <a:off x="1378001" y="1812341"/>
            <a:ext cx="307238" cy="307238"/>
          </a:xfrm>
          <a:prstGeom prst="rect">
            <a:avLst/>
          </a:prstGeom>
        </p:spPr>
      </p:pic>
      <p:sp>
        <p:nvSpPr>
          <p:cNvPr id="6" name="Browser label"/>
          <p:cNvSpPr txBox="1"/>
          <p:nvPr/>
        </p:nvSpPr>
        <p:spPr>
          <a:xfrm>
            <a:off x="640080" y="2423160"/>
            <a:ext cx="1783080" cy="411480"/>
          </a:xfrm>
          <a:prstGeom prst="rect">
            <a:avLst/>
          </a:prstGeom>
          <a:noFill/>
          <a:ln/>
        </p:spPr>
        <p:txBody>
          <a:bodyPr wrap="square" lIns="0" tIns="0" rIns="0" bIns="0" rtlCol="0" anchor="ctr"/>
          <a:lstStyle/>
          <a:p>
            <a:pPr algn="ctr" indent="0" marL="0">
              <a:buNone/>
            </a:pPr>
            <a:r>
              <a:rPr lang="en-US" sz="1600" b="1" dirty="0">
                <a:solidFill>
                  <a:schemeClr val="tx1"/>
                </a:solidFill>
              </a:rPr>
              <a:t>Browser</a:t>
            </a:r>
            <a:endParaRPr lang="en-US" sz="1600" dirty="0"/>
          </a:p>
        </p:txBody>
      </p:sp>
      <p:sp>
        <p:nvSpPr>
          <p:cNvPr id="7" name="Browser sub"/>
          <p:cNvSpPr txBox="1"/>
          <p:nvPr/>
        </p:nvSpPr>
        <p:spPr>
          <a:xfrm>
            <a:off x="640080" y="2834640"/>
            <a:ext cx="1783080" cy="502920"/>
          </a:xfrm>
          <a:prstGeom prst="rect">
            <a:avLst/>
          </a:prstGeom>
          <a:noFill/>
          <a:ln/>
        </p:spPr>
        <p:txBody>
          <a:bodyPr wrap="square" lIns="0" tIns="0" rIns="0" bIns="0" rtlCol="0" anchor="ctr"/>
          <a:lstStyle/>
          <a:p>
            <a:pPr algn="ctr" indent="0" marL="0">
              <a:buNone/>
            </a:pPr>
            <a:r>
              <a:rPr lang="en-US" sz="1200" dirty="0">
                <a:solidFill>
                  <a:schemeClr val="accent6"/>
                </a:solidFill>
              </a:rPr>
              <a:t>http://&lt;ALB&gt;</a:t>
            </a:r>
            <a:endParaRPr lang="en-US" sz="1200" dirty="0"/>
          </a:p>
        </p:txBody>
      </p:sp>
      <p:sp>
        <p:nvSpPr>
          <p:cNvPr id="8" name="arrow 0"/>
          <p:cNvSpPr/>
          <p:nvPr/>
        </p:nvSpPr>
        <p:spPr>
          <a:xfrm>
            <a:off x="2560320" y="2331720"/>
            <a:ext cx="219456" cy="274320"/>
          </a:xfrm>
          <a:prstGeom prst="rightArrow">
            <a:avLst/>
          </a:prstGeom>
          <a:solidFill>
            <a:schemeClr val="accent6"/>
          </a:solidFill>
          <a:ln w="12700">
            <a:solidFill>
              <a:schemeClr val="accent6"/>
            </a:solidFill>
            <a:prstDash val="solid"/>
          </a:ln>
        </p:spPr>
      </p:sp>
      <p:sp>
        <p:nvSpPr>
          <p:cNvPr id="9" name="ALB box"/>
          <p:cNvSpPr/>
          <p:nvPr/>
        </p:nvSpPr>
        <p:spPr>
          <a:xfrm>
            <a:off x="2825496" y="1463040"/>
            <a:ext cx="1965960" cy="2011680"/>
          </a:xfrm>
          <a:prstGeom prst="roundRect">
            <a:avLst>
              <a:gd name="adj" fmla="val 5581"/>
            </a:avLst>
          </a:prstGeom>
          <a:solidFill>
            <a:schemeClr val="bg2"/>
          </a:solidFill>
          <a:ln w="12700">
            <a:solidFill>
              <a:schemeClr val="bg2"/>
            </a:solidFill>
            <a:prstDash val="solid"/>
          </a:ln>
        </p:spPr>
      </p:sp>
      <p:sp>
        <p:nvSpPr>
          <p:cNvPr id="10" name="ALB circle"/>
          <p:cNvSpPr/>
          <p:nvPr/>
        </p:nvSpPr>
        <p:spPr>
          <a:xfrm>
            <a:off x="3488436" y="1645920"/>
            <a:ext cx="640080" cy="640080"/>
          </a:xfrm>
          <a:prstGeom prst="ellipse">
            <a:avLst/>
          </a:prstGeom>
          <a:solidFill>
            <a:schemeClr val="accent2"/>
          </a:solidFill>
          <a:ln w="12700">
            <a:solidFill>
              <a:schemeClr val="accent2"/>
            </a:solidFill>
            <a:prstDash val="solid"/>
          </a:ln>
        </p:spPr>
      </p:sp>
      <p:pic>
        <p:nvPicPr>
          <p:cNvPr id="11" name="ALB icon" descr="preencoded.png">    </p:cNvPr>
          <p:cNvPicPr>
            <a:picLocks noChangeAspect="1"/>
          </p:cNvPicPr>
          <p:nvPr/>
        </p:nvPicPr>
        <p:blipFill>
          <a:blip r:embed="rId2"/>
          <a:stretch>
            <a:fillRect/>
          </a:stretch>
        </p:blipFill>
        <p:spPr>
          <a:xfrm>
            <a:off x="3654857" y="1812341"/>
            <a:ext cx="307238" cy="307238"/>
          </a:xfrm>
          <a:prstGeom prst="rect">
            <a:avLst/>
          </a:prstGeom>
        </p:spPr>
      </p:pic>
      <p:sp>
        <p:nvSpPr>
          <p:cNvPr id="12" name="ALB label"/>
          <p:cNvSpPr txBox="1"/>
          <p:nvPr/>
        </p:nvSpPr>
        <p:spPr>
          <a:xfrm>
            <a:off x="2916936" y="2423160"/>
            <a:ext cx="1783080" cy="411480"/>
          </a:xfrm>
          <a:prstGeom prst="rect">
            <a:avLst/>
          </a:prstGeom>
          <a:noFill/>
          <a:ln/>
        </p:spPr>
        <p:txBody>
          <a:bodyPr wrap="square" lIns="0" tIns="0" rIns="0" bIns="0" rtlCol="0" anchor="ctr"/>
          <a:lstStyle/>
          <a:p>
            <a:pPr algn="ctr" indent="0" marL="0">
              <a:buNone/>
            </a:pPr>
            <a:r>
              <a:rPr lang="en-US" sz="1600" b="1" dirty="0">
                <a:solidFill>
                  <a:schemeClr val="tx1"/>
                </a:solidFill>
              </a:rPr>
              <a:t>ALB</a:t>
            </a:r>
            <a:endParaRPr lang="en-US" sz="1600" dirty="0"/>
          </a:p>
        </p:txBody>
      </p:sp>
      <p:sp>
        <p:nvSpPr>
          <p:cNvPr id="13" name="ALB sub"/>
          <p:cNvSpPr txBox="1"/>
          <p:nvPr/>
        </p:nvSpPr>
        <p:spPr>
          <a:xfrm>
            <a:off x="2916936" y="2834640"/>
            <a:ext cx="1783080" cy="502920"/>
          </a:xfrm>
          <a:prstGeom prst="rect">
            <a:avLst/>
          </a:prstGeom>
          <a:noFill/>
          <a:ln/>
        </p:spPr>
        <p:txBody>
          <a:bodyPr wrap="square" lIns="0" tIns="0" rIns="0" bIns="0" rtlCol="0" anchor="ctr"/>
          <a:lstStyle/>
          <a:p>
            <a:pPr algn="ctr" indent="0" marL="0">
              <a:buNone/>
            </a:pPr>
            <a:r>
              <a:rPr lang="en-US" sz="1200" dirty="0">
                <a:solidFill>
                  <a:schemeClr val="accent6"/>
                </a:solidFill>
              </a:rPr>
              <a:t>public subnets</a:t>
            </a:r>
            <a:endParaRPr lang="en-US" sz="1200" dirty="0"/>
          </a:p>
        </p:txBody>
      </p:sp>
      <p:sp>
        <p:nvSpPr>
          <p:cNvPr id="14" name="arrow 1"/>
          <p:cNvSpPr/>
          <p:nvPr/>
        </p:nvSpPr>
        <p:spPr>
          <a:xfrm>
            <a:off x="4837176" y="2331720"/>
            <a:ext cx="219456" cy="274320"/>
          </a:xfrm>
          <a:prstGeom prst="rightArrow">
            <a:avLst/>
          </a:prstGeom>
          <a:solidFill>
            <a:schemeClr val="accent6"/>
          </a:solidFill>
          <a:ln w="12700">
            <a:solidFill>
              <a:schemeClr val="accent6"/>
            </a:solidFill>
            <a:prstDash val="solid"/>
          </a:ln>
        </p:spPr>
      </p:sp>
      <p:sp>
        <p:nvSpPr>
          <p:cNvPr id="15" name="nginx UI pod box"/>
          <p:cNvSpPr/>
          <p:nvPr/>
        </p:nvSpPr>
        <p:spPr>
          <a:xfrm>
            <a:off x="5102352" y="1463040"/>
            <a:ext cx="1965960" cy="2011680"/>
          </a:xfrm>
          <a:prstGeom prst="roundRect">
            <a:avLst>
              <a:gd name="adj" fmla="val 5581"/>
            </a:avLst>
          </a:prstGeom>
          <a:solidFill>
            <a:schemeClr val="bg2"/>
          </a:solidFill>
          <a:ln w="12700">
            <a:solidFill>
              <a:schemeClr val="bg2"/>
            </a:solidFill>
            <a:prstDash val="solid"/>
          </a:ln>
        </p:spPr>
      </p:sp>
      <p:sp>
        <p:nvSpPr>
          <p:cNvPr id="16" name="nginx UI pod circle"/>
          <p:cNvSpPr/>
          <p:nvPr/>
        </p:nvSpPr>
        <p:spPr>
          <a:xfrm>
            <a:off x="5765292" y="1645920"/>
            <a:ext cx="640080" cy="640080"/>
          </a:xfrm>
          <a:prstGeom prst="ellipse">
            <a:avLst/>
          </a:prstGeom>
          <a:solidFill>
            <a:schemeClr val="accent1"/>
          </a:solidFill>
          <a:ln w="12700">
            <a:solidFill>
              <a:schemeClr val="accent1"/>
            </a:solidFill>
            <a:prstDash val="solid"/>
          </a:ln>
        </p:spPr>
      </p:sp>
      <p:pic>
        <p:nvPicPr>
          <p:cNvPr id="17" name="nginx UI pod icon" descr="preencoded.png">    </p:cNvPr>
          <p:cNvPicPr>
            <a:picLocks noChangeAspect="1"/>
          </p:cNvPicPr>
          <p:nvPr/>
        </p:nvPicPr>
        <p:blipFill>
          <a:blip r:embed="rId3"/>
          <a:stretch>
            <a:fillRect/>
          </a:stretch>
        </p:blipFill>
        <p:spPr>
          <a:xfrm>
            <a:off x="5931713" y="1812341"/>
            <a:ext cx="307238" cy="307238"/>
          </a:xfrm>
          <a:prstGeom prst="rect">
            <a:avLst/>
          </a:prstGeom>
        </p:spPr>
      </p:pic>
      <p:sp>
        <p:nvSpPr>
          <p:cNvPr id="18" name="nginx UI pod label"/>
          <p:cNvSpPr txBox="1"/>
          <p:nvPr/>
        </p:nvSpPr>
        <p:spPr>
          <a:xfrm>
            <a:off x="5193792" y="2423160"/>
            <a:ext cx="1783080" cy="411480"/>
          </a:xfrm>
          <a:prstGeom prst="rect">
            <a:avLst/>
          </a:prstGeom>
          <a:noFill/>
          <a:ln/>
        </p:spPr>
        <p:txBody>
          <a:bodyPr wrap="square" lIns="0" tIns="0" rIns="0" bIns="0" rtlCol="0" anchor="ctr"/>
          <a:lstStyle/>
          <a:p>
            <a:pPr algn="ctr" indent="0" marL="0">
              <a:buNone/>
            </a:pPr>
            <a:r>
              <a:rPr lang="en-US" sz="1600" b="1" dirty="0">
                <a:solidFill>
                  <a:schemeClr val="tx1"/>
                </a:solidFill>
              </a:rPr>
              <a:t>nginx UI pod</a:t>
            </a:r>
            <a:endParaRPr lang="en-US" sz="1600" dirty="0"/>
          </a:p>
        </p:txBody>
      </p:sp>
      <p:sp>
        <p:nvSpPr>
          <p:cNvPr id="19" name="nginx UI pod sub"/>
          <p:cNvSpPr txBox="1"/>
          <p:nvPr/>
        </p:nvSpPr>
        <p:spPr>
          <a:xfrm>
            <a:off x="5193792" y="2834640"/>
            <a:ext cx="1783080" cy="502920"/>
          </a:xfrm>
          <a:prstGeom prst="rect">
            <a:avLst/>
          </a:prstGeom>
          <a:noFill/>
          <a:ln/>
        </p:spPr>
        <p:txBody>
          <a:bodyPr wrap="square" lIns="0" tIns="0" rIns="0" bIns="0" rtlCol="0" anchor="ctr"/>
          <a:lstStyle/>
          <a:p>
            <a:pPr algn="ctr" indent="0" marL="0">
              <a:buNone/>
            </a:pPr>
            <a:r>
              <a:rPr lang="en-US" sz="1200" dirty="0">
                <a:solidFill>
                  <a:schemeClr val="accent6"/>
                </a:solidFill>
              </a:rPr>
              <a:t>serves React, proxies /api</a:t>
            </a:r>
            <a:endParaRPr lang="en-US" sz="1200" dirty="0"/>
          </a:p>
        </p:txBody>
      </p:sp>
      <p:sp>
        <p:nvSpPr>
          <p:cNvPr id="20" name="arrow 2"/>
          <p:cNvSpPr/>
          <p:nvPr/>
        </p:nvSpPr>
        <p:spPr>
          <a:xfrm>
            <a:off x="7114032" y="2331720"/>
            <a:ext cx="219456" cy="274320"/>
          </a:xfrm>
          <a:prstGeom prst="rightArrow">
            <a:avLst/>
          </a:prstGeom>
          <a:solidFill>
            <a:schemeClr val="accent6"/>
          </a:solidFill>
          <a:ln w="12700">
            <a:solidFill>
              <a:schemeClr val="accent6"/>
            </a:solidFill>
            <a:prstDash val="solid"/>
          </a:ln>
        </p:spPr>
      </p:sp>
      <p:sp>
        <p:nvSpPr>
          <p:cNvPr id="21" name="FastAPI pod box"/>
          <p:cNvSpPr/>
          <p:nvPr/>
        </p:nvSpPr>
        <p:spPr>
          <a:xfrm>
            <a:off x="7379208" y="1463040"/>
            <a:ext cx="1965960" cy="2011680"/>
          </a:xfrm>
          <a:prstGeom prst="roundRect">
            <a:avLst>
              <a:gd name="adj" fmla="val 5581"/>
            </a:avLst>
          </a:prstGeom>
          <a:solidFill>
            <a:schemeClr val="bg2"/>
          </a:solidFill>
          <a:ln w="12700">
            <a:solidFill>
              <a:schemeClr val="bg2"/>
            </a:solidFill>
            <a:prstDash val="solid"/>
          </a:ln>
        </p:spPr>
      </p:sp>
      <p:sp>
        <p:nvSpPr>
          <p:cNvPr id="22" name="FastAPI pod circle"/>
          <p:cNvSpPr/>
          <p:nvPr/>
        </p:nvSpPr>
        <p:spPr>
          <a:xfrm>
            <a:off x="8042148" y="1645920"/>
            <a:ext cx="640080" cy="640080"/>
          </a:xfrm>
          <a:prstGeom prst="ellipse">
            <a:avLst/>
          </a:prstGeom>
          <a:solidFill>
            <a:schemeClr val="accent1"/>
          </a:solidFill>
          <a:ln w="12700">
            <a:solidFill>
              <a:schemeClr val="accent1"/>
            </a:solidFill>
            <a:prstDash val="solid"/>
          </a:ln>
        </p:spPr>
      </p:sp>
      <p:pic>
        <p:nvPicPr>
          <p:cNvPr id="23" name="FastAPI pod icon" descr="preencoded.png">    </p:cNvPr>
          <p:cNvPicPr>
            <a:picLocks noChangeAspect="1"/>
          </p:cNvPicPr>
          <p:nvPr/>
        </p:nvPicPr>
        <p:blipFill>
          <a:blip r:embed="rId4"/>
          <a:stretch>
            <a:fillRect/>
          </a:stretch>
        </p:blipFill>
        <p:spPr>
          <a:xfrm>
            <a:off x="8208569" y="1812341"/>
            <a:ext cx="307238" cy="307238"/>
          </a:xfrm>
          <a:prstGeom prst="rect">
            <a:avLst/>
          </a:prstGeom>
        </p:spPr>
      </p:pic>
      <p:sp>
        <p:nvSpPr>
          <p:cNvPr id="24" name="FastAPI pod label"/>
          <p:cNvSpPr txBox="1"/>
          <p:nvPr/>
        </p:nvSpPr>
        <p:spPr>
          <a:xfrm>
            <a:off x="7470648" y="2423160"/>
            <a:ext cx="1783080" cy="411480"/>
          </a:xfrm>
          <a:prstGeom prst="rect">
            <a:avLst/>
          </a:prstGeom>
          <a:noFill/>
          <a:ln/>
        </p:spPr>
        <p:txBody>
          <a:bodyPr wrap="square" lIns="0" tIns="0" rIns="0" bIns="0" rtlCol="0" anchor="ctr"/>
          <a:lstStyle/>
          <a:p>
            <a:pPr algn="ctr" indent="0" marL="0">
              <a:buNone/>
            </a:pPr>
            <a:r>
              <a:rPr lang="en-US" sz="1600" b="1" dirty="0">
                <a:solidFill>
                  <a:schemeClr val="tx1"/>
                </a:solidFill>
              </a:rPr>
              <a:t>FastAPI pod</a:t>
            </a:r>
            <a:endParaRPr lang="en-US" sz="1600" dirty="0"/>
          </a:p>
        </p:txBody>
      </p:sp>
      <p:sp>
        <p:nvSpPr>
          <p:cNvPr id="25" name="FastAPI pod sub"/>
          <p:cNvSpPr txBox="1"/>
          <p:nvPr/>
        </p:nvSpPr>
        <p:spPr>
          <a:xfrm>
            <a:off x="7470648" y="2834640"/>
            <a:ext cx="1783080" cy="502920"/>
          </a:xfrm>
          <a:prstGeom prst="rect">
            <a:avLst/>
          </a:prstGeom>
          <a:noFill/>
          <a:ln/>
        </p:spPr>
        <p:txBody>
          <a:bodyPr wrap="square" lIns="0" tIns="0" rIns="0" bIns="0" rtlCol="0" anchor="ctr"/>
          <a:lstStyle/>
          <a:p>
            <a:pPr algn="ctr" indent="0" marL="0">
              <a:buNone/>
            </a:pPr>
            <a:r>
              <a:rPr lang="en-US" sz="1200" dirty="0">
                <a:solidFill>
                  <a:schemeClr val="accent6"/>
                </a:solidFill>
              </a:rPr>
              <a:t>validation + logic</a:t>
            </a:r>
            <a:endParaRPr lang="en-US" sz="1200" dirty="0"/>
          </a:p>
        </p:txBody>
      </p:sp>
      <p:sp>
        <p:nvSpPr>
          <p:cNvPr id="26" name="arrow 3"/>
          <p:cNvSpPr/>
          <p:nvPr/>
        </p:nvSpPr>
        <p:spPr>
          <a:xfrm>
            <a:off x="9390888" y="2331720"/>
            <a:ext cx="219456" cy="274320"/>
          </a:xfrm>
          <a:prstGeom prst="rightArrow">
            <a:avLst/>
          </a:prstGeom>
          <a:solidFill>
            <a:schemeClr val="accent6"/>
          </a:solidFill>
          <a:ln w="12700">
            <a:solidFill>
              <a:schemeClr val="accent6"/>
            </a:solidFill>
            <a:prstDash val="solid"/>
          </a:ln>
        </p:spPr>
      </p:sp>
      <p:sp>
        <p:nvSpPr>
          <p:cNvPr id="27" name="RDS PostgreSQL box"/>
          <p:cNvSpPr/>
          <p:nvPr/>
        </p:nvSpPr>
        <p:spPr>
          <a:xfrm>
            <a:off x="9656064" y="1463040"/>
            <a:ext cx="1965960" cy="2011680"/>
          </a:xfrm>
          <a:prstGeom prst="roundRect">
            <a:avLst>
              <a:gd name="adj" fmla="val 5581"/>
            </a:avLst>
          </a:prstGeom>
          <a:solidFill>
            <a:schemeClr val="tx1"/>
          </a:solidFill>
          <a:ln w="12700">
            <a:solidFill>
              <a:schemeClr val="tx1"/>
            </a:solidFill>
            <a:prstDash val="solid"/>
          </a:ln>
        </p:spPr>
      </p:sp>
      <p:sp>
        <p:nvSpPr>
          <p:cNvPr id="28" name="RDS PostgreSQL circle"/>
          <p:cNvSpPr/>
          <p:nvPr/>
        </p:nvSpPr>
        <p:spPr>
          <a:xfrm>
            <a:off x="10319004" y="1645920"/>
            <a:ext cx="640080" cy="640080"/>
          </a:xfrm>
          <a:prstGeom prst="ellipse">
            <a:avLst/>
          </a:prstGeom>
          <a:solidFill>
            <a:schemeClr val="accent1"/>
          </a:solidFill>
          <a:ln w="12700">
            <a:solidFill>
              <a:schemeClr val="accent1"/>
            </a:solidFill>
            <a:prstDash val="solid"/>
          </a:ln>
        </p:spPr>
      </p:sp>
      <p:pic>
        <p:nvPicPr>
          <p:cNvPr id="29" name="RDS PostgreSQL icon" descr="preencoded.png">    </p:cNvPr>
          <p:cNvPicPr>
            <a:picLocks noChangeAspect="1"/>
          </p:cNvPicPr>
          <p:nvPr/>
        </p:nvPicPr>
        <p:blipFill>
          <a:blip r:embed="rId5"/>
          <a:stretch>
            <a:fillRect/>
          </a:stretch>
        </p:blipFill>
        <p:spPr>
          <a:xfrm>
            <a:off x="10485425" y="1812341"/>
            <a:ext cx="307238" cy="307238"/>
          </a:xfrm>
          <a:prstGeom prst="rect">
            <a:avLst/>
          </a:prstGeom>
        </p:spPr>
      </p:pic>
      <p:sp>
        <p:nvSpPr>
          <p:cNvPr id="30" name="RDS PostgreSQL label"/>
          <p:cNvSpPr txBox="1"/>
          <p:nvPr/>
        </p:nvSpPr>
        <p:spPr>
          <a:xfrm>
            <a:off x="9747504" y="2423160"/>
            <a:ext cx="1783080" cy="411480"/>
          </a:xfrm>
          <a:prstGeom prst="rect">
            <a:avLst/>
          </a:prstGeom>
          <a:noFill/>
          <a:ln/>
        </p:spPr>
        <p:txBody>
          <a:bodyPr wrap="square" lIns="0" tIns="0" rIns="0" bIns="0" rtlCol="0" anchor="ctr"/>
          <a:lstStyle/>
          <a:p>
            <a:pPr algn="ctr" indent="0" marL="0">
              <a:buNone/>
            </a:pPr>
            <a:r>
              <a:rPr lang="en-US" sz="1600" b="1" dirty="0">
                <a:solidFill>
                  <a:schemeClr val="bg1"/>
                </a:solidFill>
              </a:rPr>
              <a:t>RDS PostgreSQL</a:t>
            </a:r>
            <a:endParaRPr lang="en-US" sz="1600" dirty="0"/>
          </a:p>
        </p:txBody>
      </p:sp>
      <p:sp>
        <p:nvSpPr>
          <p:cNvPr id="31" name="RDS PostgreSQL sub"/>
          <p:cNvSpPr txBox="1"/>
          <p:nvPr/>
        </p:nvSpPr>
        <p:spPr>
          <a:xfrm>
            <a:off x="9747504" y="2834640"/>
            <a:ext cx="1783080" cy="502920"/>
          </a:xfrm>
          <a:prstGeom prst="rect">
            <a:avLst/>
          </a:prstGeom>
          <a:noFill/>
          <a:ln/>
        </p:spPr>
        <p:txBody>
          <a:bodyPr wrap="square" lIns="0" tIns="0" rIns="0" bIns="0" rtlCol="0" anchor="ctr"/>
          <a:lstStyle/>
          <a:p>
            <a:pPr algn="ctr" indent="0" marL="0">
              <a:buNone/>
            </a:pPr>
            <a:r>
              <a:rPr lang="en-US" sz="1200" dirty="0">
                <a:solidFill>
                  <a:schemeClr val="bg2"/>
                </a:solidFill>
              </a:rPr>
              <a:t>SSL, private subnet</a:t>
            </a:r>
            <a:endParaRPr lang="en-US" sz="1200" dirty="0"/>
          </a:p>
        </p:txBody>
      </p:sp>
      <p:sp>
        <p:nvSpPr>
          <p:cNvPr id="32" name="flow bullets"/>
          <p:cNvSpPr txBox="1"/>
          <p:nvPr/>
        </p:nvSpPr>
        <p:spPr>
          <a:xfrm>
            <a:off x="548640" y="3886200"/>
            <a:ext cx="11064240" cy="2286000"/>
          </a:xfrm>
          <a:prstGeom prst="rect">
            <a:avLst/>
          </a:prstGeom>
          <a:noFill/>
          <a:ln/>
        </p:spPr>
        <p:txBody>
          <a:bodyPr wrap="square" lIns="0" tIns="0" rIns="0" bIns="0" rtlCol="0" anchor="t"/>
          <a:lstStyle/>
          <a:p>
            <a:pPr marL="203200" indent="-203200">
              <a:spcAft>
                <a:spcPts val="600"/>
              </a:spcAft>
              <a:buSzPct val="100000"/>
              <a:buChar char="•"/>
            </a:pPr>
            <a:r>
              <a:rPr lang="en-US" sz="1600" b="1" dirty="0">
                <a:solidFill>
                  <a:schemeClr val="tx1"/>
                </a:solidFill>
              </a:rPr>
              <a:t>One entry point. </a:t>
            </a:r>
            <a:pPr indent="0" marL="0">
              <a:spcAft>
                <a:spcPts val="600"/>
              </a:spcAft>
              <a:buNone/>
            </a:pPr>
            <a:r>
              <a:rPr lang="en-US" sz="1600" dirty="0">
                <a:solidFill>
                  <a:schemeClr val="tx1"/>
                </a:solidFill>
              </a:rPr>
              <a:t>The ALB is created by the AWS Load Balancer Controller from a Kubernetes Ingress, so routing lives in the Helm chart.</a:t>
            </a:r>
            <a:endParaRPr lang="en-US" sz="1600" dirty="0"/>
          </a:p>
          <a:p>
            <a:pPr marL="203200" indent="-203200">
              <a:spcAft>
                <a:spcPts val="600"/>
              </a:spcAft>
              <a:buSzPct val="100000"/>
              <a:buChar char="•"/>
            </a:pPr>
            <a:r>
              <a:rPr lang="en-US" sz="1600" b="1" dirty="0">
                <a:solidFill>
                  <a:schemeClr val="tx1"/>
                </a:solidFill>
              </a:rPr>
              <a:t>Two replicas of each tier, </a:t>
            </a:r>
            <a:pPr indent="0" marL="0">
              <a:spcAft>
                <a:spcPts val="600"/>
              </a:spcAft>
              <a:buNone/>
            </a:pPr>
            <a:r>
              <a:rPr lang="en-US" sz="1600" dirty="0">
                <a:solidFill>
                  <a:schemeClr val="tx1"/>
                </a:solidFill>
              </a:rPr>
              <a:t>spread over two Availability Zones, updated one pod at a time.</a:t>
            </a:r>
            <a:endParaRPr lang="en-US" sz="1600" dirty="0"/>
          </a:p>
          <a:p>
            <a:pPr marL="203200" indent="-203200">
              <a:spcAft>
                <a:spcPts val="600"/>
              </a:spcAft>
              <a:buSzPct val="100000"/>
              <a:buChar char="•"/>
            </a:pPr>
            <a:r>
              <a:rPr lang="en-US" sz="1600" b="1" dirty="0">
                <a:solidFill>
                  <a:schemeClr val="tx1"/>
                </a:solidFill>
              </a:rPr>
              <a:t>The UI never talks to the database. </a:t>
            </a:r>
            <a:pPr indent="0" marL="0">
              <a:spcAft>
                <a:spcPts val="600"/>
              </a:spcAft>
              <a:buNone/>
            </a:pPr>
            <a:r>
              <a:rPr lang="en-US" sz="1600" dirty="0">
                <a:solidFill>
                  <a:schemeClr val="tx1"/>
                </a:solidFill>
              </a:rPr>
              <a:t>nginx forwards /api to the API service; only API pods hold the DB secret.</a:t>
            </a:r>
            <a:endParaRPr lang="en-US" sz="1600" dirty="0"/>
          </a:p>
          <a:p>
            <a:pPr marL="203200" indent="-203200">
              <a:spcAft>
                <a:spcPts val="600"/>
              </a:spcAft>
              <a:buSzPct val="100000"/>
              <a:buChar char="•"/>
            </a:pPr>
            <a:r>
              <a:rPr lang="en-US" sz="1600" b="1" dirty="0">
                <a:solidFill>
                  <a:schemeClr val="tx1"/>
                </a:solidFill>
              </a:rPr>
              <a:t>Health is checked at every hop: </a:t>
            </a:r>
            <a:pPr indent="0" marL="0">
              <a:spcAft>
                <a:spcPts val="600"/>
              </a:spcAft>
              <a:buNone/>
            </a:pPr>
            <a:r>
              <a:rPr lang="en-US" sz="1600" dirty="0">
                <a:solidFill>
                  <a:schemeClr val="tx1"/>
                </a:solidFill>
              </a:rPr>
              <a:t>ALB target health, Kubernetes readiness probes and /health, which reports storage = postgresql.</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From source to production: the pipeline</a:t>
            </a:r>
            <a:endParaRPr lang="en-US" sz="3200" dirty="0"/>
          </a:p>
        </p:txBody>
      </p:sp>
      <p:pic>
        <p:nvPicPr>
          <p:cNvPr id="3" name="pipeline diagram" descr="pipeline.png">    </p:cNvPr>
          <p:cNvPicPr>
            <a:picLocks noChangeAspect="1"/>
          </p:cNvPicPr>
          <p:nvPr/>
        </p:nvPicPr>
        <p:blipFill>
          <a:blip r:embed="rId1"/>
          <a:stretch>
            <a:fillRect/>
          </a:stretch>
        </p:blipFill>
        <p:spPr>
          <a:xfrm>
            <a:off x="548640" y="1234440"/>
            <a:ext cx="11064240" cy="3711422"/>
          </a:xfrm>
          <a:prstGeom prst="rect">
            <a:avLst/>
          </a:prstGeom>
        </p:spPr>
      </p:pic>
      <p:sp>
        <p:nvSpPr>
          <p:cNvPr id="4" name="stat 0"/>
          <p:cNvSpPr txBox="1"/>
          <p:nvPr/>
        </p:nvSpPr>
        <p:spPr>
          <a:xfrm>
            <a:off x="548640" y="5120640"/>
            <a:ext cx="1005840" cy="914400"/>
          </a:xfrm>
          <a:prstGeom prst="rect">
            <a:avLst/>
          </a:prstGeom>
          <a:noFill/>
          <a:ln/>
        </p:spPr>
        <p:txBody>
          <a:bodyPr wrap="square" lIns="0" tIns="0" rIns="0" bIns="0" rtlCol="0" anchor="ctr"/>
          <a:lstStyle/>
          <a:p>
            <a:pPr indent="0" marL="0">
              <a:buNone/>
            </a:pPr>
            <a:r>
              <a:rPr lang="en-US" sz="5400" b="1" dirty="0">
                <a:solidFill>
                  <a:schemeClr val="tx2"/>
                </a:solidFill>
              </a:rPr>
              <a:t>8</a:t>
            </a:r>
            <a:endParaRPr lang="en-US" sz="5400" dirty="0"/>
          </a:p>
        </p:txBody>
      </p:sp>
      <p:sp>
        <p:nvSpPr>
          <p:cNvPr id="5" name="stat label 0"/>
          <p:cNvSpPr txBox="1"/>
          <p:nvPr/>
        </p:nvSpPr>
        <p:spPr>
          <a:xfrm>
            <a:off x="1600200" y="5120640"/>
            <a:ext cx="2514600" cy="914400"/>
          </a:xfrm>
          <a:prstGeom prst="rect">
            <a:avLst/>
          </a:prstGeom>
          <a:noFill/>
          <a:ln/>
        </p:spPr>
        <p:txBody>
          <a:bodyPr wrap="square" lIns="0" tIns="0" rIns="0" bIns="0" rtlCol="0" anchor="ctr"/>
          <a:lstStyle/>
          <a:p>
            <a:pPr indent="0" marL="0">
              <a:buNone/>
            </a:pPr>
            <a:r>
              <a:rPr lang="en-US" sz="1400" dirty="0">
                <a:solidFill>
                  <a:schemeClr val="tx1"/>
                </a:solidFill>
              </a:rPr>
              <a:t>pipeline stages, all in Jenkinsfile.aws</a:t>
            </a:r>
            <a:endParaRPr lang="en-US" sz="1400" dirty="0"/>
          </a:p>
        </p:txBody>
      </p:sp>
      <p:sp>
        <p:nvSpPr>
          <p:cNvPr id="6" name="stat 1"/>
          <p:cNvSpPr txBox="1"/>
          <p:nvPr/>
        </p:nvSpPr>
        <p:spPr>
          <a:xfrm>
            <a:off x="4297680" y="5120640"/>
            <a:ext cx="1005840" cy="914400"/>
          </a:xfrm>
          <a:prstGeom prst="rect">
            <a:avLst/>
          </a:prstGeom>
          <a:noFill/>
          <a:ln/>
        </p:spPr>
        <p:txBody>
          <a:bodyPr wrap="square" lIns="0" tIns="0" rIns="0" bIns="0" rtlCol="0" anchor="ctr"/>
          <a:lstStyle/>
          <a:p>
            <a:pPr indent="0" marL="0">
              <a:buNone/>
            </a:pPr>
            <a:r>
              <a:rPr lang="en-US" sz="5400" b="1" dirty="0">
                <a:solidFill>
                  <a:schemeClr val="accent2"/>
                </a:solidFill>
              </a:rPr>
              <a:t>0</a:t>
            </a:r>
            <a:endParaRPr lang="en-US" sz="5400" dirty="0"/>
          </a:p>
        </p:txBody>
      </p:sp>
      <p:sp>
        <p:nvSpPr>
          <p:cNvPr id="7" name="stat label 1"/>
          <p:cNvSpPr txBox="1"/>
          <p:nvPr/>
        </p:nvSpPr>
        <p:spPr>
          <a:xfrm>
            <a:off x="5349240" y="5120640"/>
            <a:ext cx="2514600" cy="914400"/>
          </a:xfrm>
          <a:prstGeom prst="rect">
            <a:avLst/>
          </a:prstGeom>
          <a:noFill/>
          <a:ln/>
        </p:spPr>
        <p:txBody>
          <a:bodyPr wrap="square" lIns="0" tIns="0" rIns="0" bIns="0" rtlCol="0" anchor="ctr"/>
          <a:lstStyle/>
          <a:p>
            <a:pPr indent="0" marL="0">
              <a:buNone/>
            </a:pPr>
            <a:r>
              <a:rPr lang="en-US" sz="1400" dirty="0">
                <a:solidFill>
                  <a:schemeClr val="tx1"/>
                </a:solidFill>
              </a:rPr>
              <a:t>secrets in Git: they come from Jenkins credentials and Secrets Manager</a:t>
            </a:r>
            <a:endParaRPr lang="en-US" sz="1400" dirty="0"/>
          </a:p>
        </p:txBody>
      </p:sp>
      <p:sp>
        <p:nvSpPr>
          <p:cNvPr id="8" name="stat 2"/>
          <p:cNvSpPr txBox="1"/>
          <p:nvPr/>
        </p:nvSpPr>
        <p:spPr>
          <a:xfrm>
            <a:off x="8046720" y="5120640"/>
            <a:ext cx="1005840" cy="914400"/>
          </a:xfrm>
          <a:prstGeom prst="rect">
            <a:avLst/>
          </a:prstGeom>
          <a:noFill/>
          <a:ln/>
        </p:spPr>
        <p:txBody>
          <a:bodyPr wrap="square" lIns="0" tIns="0" rIns="0" bIns="0" rtlCol="0" anchor="ctr"/>
          <a:lstStyle/>
          <a:p>
            <a:pPr indent="0" marL="0">
              <a:buNone/>
            </a:pPr>
            <a:r>
              <a:rPr lang="en-US" sz="5400" b="1" dirty="0">
                <a:solidFill>
                  <a:schemeClr val="tx2"/>
                </a:solidFill>
              </a:rPr>
              <a:t>1</a:t>
            </a:r>
            <a:endParaRPr lang="en-US" sz="5400" dirty="0"/>
          </a:p>
        </p:txBody>
      </p:sp>
      <p:sp>
        <p:nvSpPr>
          <p:cNvPr id="9" name="stat label 2"/>
          <p:cNvSpPr txBox="1"/>
          <p:nvPr/>
        </p:nvSpPr>
        <p:spPr>
          <a:xfrm>
            <a:off x="9098280" y="5120640"/>
            <a:ext cx="2514600" cy="914400"/>
          </a:xfrm>
          <a:prstGeom prst="rect">
            <a:avLst/>
          </a:prstGeom>
          <a:noFill/>
          <a:ln/>
        </p:spPr>
        <p:txBody>
          <a:bodyPr wrap="square" lIns="0" tIns="0" rIns="0" bIns="0" rtlCol="0" anchor="ctr"/>
          <a:lstStyle/>
          <a:p>
            <a:pPr indent="0" marL="0">
              <a:buNone/>
            </a:pPr>
            <a:r>
              <a:rPr lang="en-US" sz="1400" dirty="0">
                <a:solidFill>
                  <a:schemeClr val="tx1"/>
                </a:solidFill>
              </a:rPr>
              <a:t>command to roll back any release: helm rollback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Infrastructure as code with Terraform</a:t>
            </a:r>
            <a:endParaRPr lang="en-US" sz="3200" dirty="0"/>
          </a:p>
        </p:txBody>
      </p:sp>
      <p:graphicFrame>
        <p:nvGraphicFramePr>
          <p:cNvPr id="9" name="terraform table"/>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1371600"/>
                <a:gridCol w="3931920"/>
                <a:gridCol w="1645920"/>
              </a:tblGrid>
              <a:tr h="457200">
                <a:tc>
                  <a:txBody>
                    <a:bodyPr/>
                    <a:lstStyle/>
                    <a:p>
                      <a:pPr indent="0" marL="0">
                        <a:buNone/>
                      </a:pPr>
                      <a:r>
                        <a:rPr lang="en-US" sz="1400" b="1" dirty="0">
                          <a:solidFill>
                            <a:schemeClr val="bg1"/>
                          </a:solidFill>
                        </a:rPr>
                        <a:t>Folder</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Creates</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Lifetime</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tx1"/>
                    </a:solidFill>
                  </a:tcPr>
                </a:tc>
              </a:tr>
              <a:tr h="685800">
                <a:tc>
                  <a:txBody>
                    <a:bodyPr/>
                    <a:lstStyle/>
                    <a:p>
                      <a:pPr indent="0" marL="0">
                        <a:buNone/>
                      </a:pPr>
                      <a:r>
                        <a:rPr lang="en-US" sz="1400" dirty="0">
                          <a:solidFill>
                            <a:schemeClr val="tx1"/>
                          </a:solidFill>
                        </a:rPr>
                        <a:t>bootstrap</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S3 bucket for Terraform state: versioned, encrypted, private</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Once, kept</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685800">
                <a:tc>
                  <a:txBody>
                    <a:bodyPr/>
                    <a:lstStyle/>
                    <a:p>
                      <a:pPr indent="0" marL="0">
                        <a:buNone/>
                      </a:pPr>
                      <a:r>
                        <a:rPr lang="en-US" sz="1400" dirty="0">
                          <a:solidFill>
                            <a:schemeClr val="tx1"/>
                          </a:solidFill>
                        </a:rPr>
                        <a:t>shared</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ECR repositories (api, ui), Jenkins IAM user and group</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Kept, a few cents a month</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868680">
                <a:tc>
                  <a:txBody>
                    <a:bodyPr/>
                    <a:lstStyle/>
                    <a:p>
                      <a:pPr indent="0" marL="0">
                        <a:buNone/>
                      </a:pPr>
                      <a:r>
                        <a:rPr lang="en-US" sz="1400" dirty="0">
                          <a:solidFill>
                            <a:schemeClr val="tx1"/>
                          </a:solidFill>
                        </a:rPr>
                        <a:t>envs/dev</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VPC, EKS + nodes, RDS, ALB controller identity, SSM settings, alarms, budget</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Created and destroyed daily</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685800">
                <a:tc>
                  <a:txBody>
                    <a:bodyPr/>
                    <a:lstStyle/>
                    <a:p>
                      <a:pPr indent="0" marL="0">
                        <a:buNone/>
                      </a:pPr>
                      <a:r>
                        <a:rPr lang="en-US" sz="1400" dirty="0">
                          <a:solidFill>
                            <a:schemeClr val="tx1"/>
                          </a:solidFill>
                        </a:rPr>
                        <a:t>modules/</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network · eks · rds: reusable for UAT and PROD</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Shared code</a:t>
                      </a:r>
                      <a:endParaRPr lang="en-US" sz="1400" dirty="0"/>
                    </a:p>
                  </a:txBody>
                  <a:tcPr marL="73152" marR="73152" marT="73152" marB="73152"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bl>
          </a:graphicData>
        </a:graphic>
      </p:graphicFrame>
      <p:sp>
        <p:nvSpPr>
          <p:cNvPr id="4" name="Locked to one account card"/>
          <p:cNvSpPr/>
          <p:nvPr/>
        </p:nvSpPr>
        <p:spPr>
          <a:xfrm>
            <a:off x="7863840" y="1371600"/>
            <a:ext cx="3749040" cy="1417320"/>
          </a:xfrm>
          <a:prstGeom prst="roundRect">
            <a:avLst>
              <a:gd name="adj" fmla="val 7742"/>
            </a:avLst>
          </a:prstGeom>
          <a:solidFill>
            <a:schemeClr val="bg2"/>
          </a:solidFill>
          <a:ln w="12700">
            <a:solidFill>
              <a:schemeClr val="bg2"/>
            </a:solidFill>
            <a:prstDash val="solid"/>
          </a:ln>
        </p:spPr>
      </p:sp>
      <p:sp>
        <p:nvSpPr>
          <p:cNvPr id="5" name="Locked to one account circle"/>
          <p:cNvSpPr/>
          <p:nvPr/>
        </p:nvSpPr>
        <p:spPr>
          <a:xfrm>
            <a:off x="8092440" y="1600200"/>
            <a:ext cx="548640" cy="548640"/>
          </a:xfrm>
          <a:prstGeom prst="ellipse">
            <a:avLst/>
          </a:prstGeom>
          <a:solidFill>
            <a:schemeClr val="accent2"/>
          </a:solidFill>
          <a:ln w="12700">
            <a:solidFill>
              <a:schemeClr val="accent2"/>
            </a:solidFill>
            <a:prstDash val="solid"/>
          </a:ln>
        </p:spPr>
      </p:sp>
      <p:pic>
        <p:nvPicPr>
          <p:cNvPr id="6" name="Locked to one account icon" descr="preencoded.png">    </p:cNvPr>
          <p:cNvPicPr>
            <a:picLocks noChangeAspect="1"/>
          </p:cNvPicPr>
          <p:nvPr/>
        </p:nvPicPr>
        <p:blipFill>
          <a:blip r:embed="rId1"/>
          <a:stretch>
            <a:fillRect/>
          </a:stretch>
        </p:blipFill>
        <p:spPr>
          <a:xfrm>
            <a:off x="8235086" y="1742846"/>
            <a:ext cx="263347" cy="263347"/>
          </a:xfrm>
          <a:prstGeom prst="rect">
            <a:avLst/>
          </a:prstGeom>
        </p:spPr>
      </p:pic>
      <p:sp>
        <p:nvSpPr>
          <p:cNvPr id="7" name="Locked to one account title"/>
          <p:cNvSpPr txBox="1"/>
          <p:nvPr/>
        </p:nvSpPr>
        <p:spPr>
          <a:xfrm>
            <a:off x="8778240" y="1572768"/>
            <a:ext cx="2651760" cy="594360"/>
          </a:xfrm>
          <a:prstGeom prst="rect">
            <a:avLst/>
          </a:prstGeom>
          <a:noFill/>
          <a:ln/>
        </p:spPr>
        <p:txBody>
          <a:bodyPr wrap="square" lIns="0" tIns="0" rIns="0" bIns="0" rtlCol="0" anchor="ctr"/>
          <a:lstStyle/>
          <a:p>
            <a:pPr indent="0" marL="0">
              <a:buNone/>
            </a:pPr>
            <a:r>
              <a:rPr lang="en-US" sz="1600" b="1" dirty="0">
                <a:solidFill>
                  <a:schemeClr val="tx1"/>
                </a:solidFill>
              </a:rPr>
              <a:t>Locked to one account</a:t>
            </a:r>
            <a:endParaRPr lang="en-US" sz="1600" dirty="0"/>
          </a:p>
        </p:txBody>
      </p:sp>
      <p:sp>
        <p:nvSpPr>
          <p:cNvPr id="8" name="Locked to one account text"/>
          <p:cNvSpPr txBox="1"/>
          <p:nvPr/>
        </p:nvSpPr>
        <p:spPr>
          <a:xfrm>
            <a:off x="8092440" y="2286000"/>
            <a:ext cx="3291840" cy="365760"/>
          </a:xfrm>
          <a:prstGeom prst="rect">
            <a:avLst/>
          </a:prstGeom>
          <a:noFill/>
          <a:ln/>
        </p:spPr>
        <p:txBody>
          <a:bodyPr wrap="square" lIns="0" tIns="0" rIns="0" bIns="0" rtlCol="0" anchor="t"/>
          <a:lstStyle/>
          <a:p>
            <a:pPr indent="0" marL="0">
              <a:buNone/>
            </a:pPr>
            <a:r>
              <a:rPr lang="en-US" sz="1400" dirty="0">
                <a:solidFill>
                  <a:schemeClr val="tx1"/>
                </a:solidFill>
              </a:rPr>
              <a:t>allowed_account_ids = 866934333672 in every provider</a:t>
            </a:r>
            <a:endParaRPr lang="en-US" sz="1400" dirty="0"/>
          </a:p>
        </p:txBody>
      </p:sp>
      <p:sp>
        <p:nvSpPr>
          <p:cNvPr id="9" name="Tagged by default card"/>
          <p:cNvSpPr/>
          <p:nvPr/>
        </p:nvSpPr>
        <p:spPr>
          <a:xfrm>
            <a:off x="7863840" y="2971800"/>
            <a:ext cx="3749040" cy="1417320"/>
          </a:xfrm>
          <a:prstGeom prst="roundRect">
            <a:avLst>
              <a:gd name="adj" fmla="val 7742"/>
            </a:avLst>
          </a:prstGeom>
          <a:solidFill>
            <a:schemeClr val="bg2"/>
          </a:solidFill>
          <a:ln w="12700">
            <a:solidFill>
              <a:schemeClr val="bg2"/>
            </a:solidFill>
            <a:prstDash val="solid"/>
          </a:ln>
        </p:spPr>
      </p:sp>
      <p:sp>
        <p:nvSpPr>
          <p:cNvPr id="10" name="Tagged by default circle"/>
          <p:cNvSpPr/>
          <p:nvPr/>
        </p:nvSpPr>
        <p:spPr>
          <a:xfrm>
            <a:off x="8092440" y="3200400"/>
            <a:ext cx="548640" cy="548640"/>
          </a:xfrm>
          <a:prstGeom prst="ellipse">
            <a:avLst/>
          </a:prstGeom>
          <a:solidFill>
            <a:schemeClr val="accent1"/>
          </a:solidFill>
          <a:ln w="12700">
            <a:solidFill>
              <a:schemeClr val="accent1"/>
            </a:solidFill>
            <a:prstDash val="solid"/>
          </a:ln>
        </p:spPr>
      </p:sp>
      <p:pic>
        <p:nvPicPr>
          <p:cNvPr id="11" name="Tagged by default icon" descr="preencoded.png">    </p:cNvPr>
          <p:cNvPicPr>
            <a:picLocks noChangeAspect="1"/>
          </p:cNvPicPr>
          <p:nvPr/>
        </p:nvPicPr>
        <p:blipFill>
          <a:blip r:embed="rId2"/>
          <a:stretch>
            <a:fillRect/>
          </a:stretch>
        </p:blipFill>
        <p:spPr>
          <a:xfrm>
            <a:off x="8235086" y="3343046"/>
            <a:ext cx="263347" cy="263347"/>
          </a:xfrm>
          <a:prstGeom prst="rect">
            <a:avLst/>
          </a:prstGeom>
        </p:spPr>
      </p:pic>
      <p:sp>
        <p:nvSpPr>
          <p:cNvPr id="12" name="Tagged by default title"/>
          <p:cNvSpPr txBox="1"/>
          <p:nvPr/>
        </p:nvSpPr>
        <p:spPr>
          <a:xfrm>
            <a:off x="8778240" y="3172968"/>
            <a:ext cx="2651760" cy="594360"/>
          </a:xfrm>
          <a:prstGeom prst="rect">
            <a:avLst/>
          </a:prstGeom>
          <a:noFill/>
          <a:ln/>
        </p:spPr>
        <p:txBody>
          <a:bodyPr wrap="square" lIns="0" tIns="0" rIns="0" bIns="0" rtlCol="0" anchor="ctr"/>
          <a:lstStyle/>
          <a:p>
            <a:pPr indent="0" marL="0">
              <a:buNone/>
            </a:pPr>
            <a:r>
              <a:rPr lang="en-US" sz="1600" b="1" dirty="0">
                <a:solidFill>
                  <a:schemeClr val="tx1"/>
                </a:solidFill>
              </a:rPr>
              <a:t>Tagged by default</a:t>
            </a:r>
            <a:endParaRPr lang="en-US" sz="1600" dirty="0"/>
          </a:p>
        </p:txBody>
      </p:sp>
      <p:sp>
        <p:nvSpPr>
          <p:cNvPr id="13" name="Tagged by default text"/>
          <p:cNvSpPr txBox="1"/>
          <p:nvPr/>
        </p:nvSpPr>
        <p:spPr>
          <a:xfrm>
            <a:off x="8092440" y="3886200"/>
            <a:ext cx="3291840" cy="365760"/>
          </a:xfrm>
          <a:prstGeom prst="rect">
            <a:avLst/>
          </a:prstGeom>
          <a:noFill/>
          <a:ln/>
        </p:spPr>
        <p:txBody>
          <a:bodyPr wrap="square" lIns="0" tIns="0" rIns="0" bIns="0" rtlCol="0" anchor="t"/>
          <a:lstStyle/>
          <a:p>
            <a:pPr indent="0" marL="0">
              <a:buNone/>
            </a:pPr>
            <a:r>
              <a:rPr lang="en-US" sz="1400" dirty="0">
                <a:solidFill>
                  <a:schemeClr val="tx1"/>
                </a:solidFill>
              </a:rPr>
              <a:t>Project, Environment, Owner on every resource</a:t>
            </a:r>
            <a:endParaRPr lang="en-US" sz="1400" dirty="0"/>
          </a:p>
        </p:txBody>
      </p:sp>
      <p:sp>
        <p:nvSpPr>
          <p:cNvPr id="14" name="Safe shared state card"/>
          <p:cNvSpPr/>
          <p:nvPr/>
        </p:nvSpPr>
        <p:spPr>
          <a:xfrm>
            <a:off x="7863840" y="4572000"/>
            <a:ext cx="3749040" cy="1417320"/>
          </a:xfrm>
          <a:prstGeom prst="roundRect">
            <a:avLst>
              <a:gd name="adj" fmla="val 7742"/>
            </a:avLst>
          </a:prstGeom>
          <a:solidFill>
            <a:schemeClr val="bg2"/>
          </a:solidFill>
          <a:ln w="12700">
            <a:solidFill>
              <a:schemeClr val="bg2"/>
            </a:solidFill>
            <a:prstDash val="solid"/>
          </a:ln>
        </p:spPr>
      </p:sp>
      <p:sp>
        <p:nvSpPr>
          <p:cNvPr id="15" name="Safe shared state circle"/>
          <p:cNvSpPr/>
          <p:nvPr/>
        </p:nvSpPr>
        <p:spPr>
          <a:xfrm>
            <a:off x="8092440" y="4800600"/>
            <a:ext cx="548640" cy="548640"/>
          </a:xfrm>
          <a:prstGeom prst="ellipse">
            <a:avLst/>
          </a:prstGeom>
          <a:solidFill>
            <a:schemeClr val="accent1"/>
          </a:solidFill>
          <a:ln w="12700">
            <a:solidFill>
              <a:schemeClr val="accent1"/>
            </a:solidFill>
            <a:prstDash val="solid"/>
          </a:ln>
        </p:spPr>
      </p:sp>
      <p:pic>
        <p:nvPicPr>
          <p:cNvPr id="16" name="Safe shared state icon" descr="preencoded.png">    </p:cNvPr>
          <p:cNvPicPr>
            <a:picLocks noChangeAspect="1"/>
          </p:cNvPicPr>
          <p:nvPr/>
        </p:nvPicPr>
        <p:blipFill>
          <a:blip r:embed="rId3"/>
          <a:stretch>
            <a:fillRect/>
          </a:stretch>
        </p:blipFill>
        <p:spPr>
          <a:xfrm>
            <a:off x="8235086" y="4943246"/>
            <a:ext cx="263347" cy="263347"/>
          </a:xfrm>
          <a:prstGeom prst="rect">
            <a:avLst/>
          </a:prstGeom>
        </p:spPr>
      </p:pic>
      <p:sp>
        <p:nvSpPr>
          <p:cNvPr id="17" name="Safe shared state title"/>
          <p:cNvSpPr txBox="1"/>
          <p:nvPr/>
        </p:nvSpPr>
        <p:spPr>
          <a:xfrm>
            <a:off x="8778240" y="4773168"/>
            <a:ext cx="2651760" cy="594360"/>
          </a:xfrm>
          <a:prstGeom prst="rect">
            <a:avLst/>
          </a:prstGeom>
          <a:noFill/>
          <a:ln/>
        </p:spPr>
        <p:txBody>
          <a:bodyPr wrap="square" lIns="0" tIns="0" rIns="0" bIns="0" rtlCol="0" anchor="ctr"/>
          <a:lstStyle/>
          <a:p>
            <a:pPr indent="0" marL="0">
              <a:buNone/>
            </a:pPr>
            <a:r>
              <a:rPr lang="en-US" sz="1600" b="1" dirty="0">
                <a:solidFill>
                  <a:schemeClr val="tx1"/>
                </a:solidFill>
              </a:rPr>
              <a:t>Safe shared state</a:t>
            </a:r>
            <a:endParaRPr lang="en-US" sz="1600" dirty="0"/>
          </a:p>
        </p:txBody>
      </p:sp>
      <p:sp>
        <p:nvSpPr>
          <p:cNvPr id="18" name="Safe shared state text"/>
          <p:cNvSpPr txBox="1"/>
          <p:nvPr/>
        </p:nvSpPr>
        <p:spPr>
          <a:xfrm>
            <a:off x="8092440" y="5486400"/>
            <a:ext cx="3291840" cy="365760"/>
          </a:xfrm>
          <a:prstGeom prst="rect">
            <a:avLst/>
          </a:prstGeom>
          <a:noFill/>
          <a:ln/>
        </p:spPr>
        <p:txBody>
          <a:bodyPr wrap="square" lIns="0" tIns="0" rIns="0" bIns="0" rtlCol="0" anchor="t"/>
          <a:lstStyle/>
          <a:p>
            <a:pPr indent="0" marL="0">
              <a:buNone/>
            </a:pPr>
            <a:r>
              <a:rPr lang="en-US" sz="1400" dirty="0">
                <a:solidFill>
                  <a:schemeClr val="tx1"/>
                </a:solidFill>
              </a:rPr>
              <a:t>S3 backend with lockfile: no DynamoDB needed</a:t>
            </a:r>
            <a:endParaRPr lang="en-US" sz="1400" dirty="0"/>
          </a:p>
        </p:txBody>
      </p:sp>
      <p:sp>
        <p:nvSpPr>
          <p:cNvPr id="19" name="tf note"/>
          <p:cNvSpPr txBox="1"/>
          <p:nvPr/>
        </p:nvSpPr>
        <p:spPr>
          <a:xfrm>
            <a:off x="548640" y="5120640"/>
            <a:ext cx="6949440" cy="822960"/>
          </a:xfrm>
          <a:prstGeom prst="rect">
            <a:avLst/>
          </a:prstGeom>
          <a:noFill/>
          <a:ln/>
        </p:spPr>
        <p:txBody>
          <a:bodyPr wrap="square" lIns="0" tIns="0" rIns="0" bIns="0" rtlCol="0" anchor="t"/>
          <a:lstStyle/>
          <a:p>
            <a:pPr indent="0" marL="0">
              <a:buNone/>
            </a:pPr>
            <a:r>
              <a:rPr lang="en-US" sz="1400" i="1" dirty="0">
                <a:solidFill>
                  <a:schemeClr val="accent6"/>
                </a:solidFill>
              </a:rPr>
              <a:t>~70 resources in envs/dev  ·  about 20 minutes to create and 15 to destroy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Network design: three tiers in two zones</a:t>
            </a:r>
            <a:endParaRPr lang="en-US" sz="3200" dirty="0"/>
          </a:p>
        </p:txBody>
      </p:sp>
      <p:pic>
        <p:nvPicPr>
          <p:cNvPr id="3" name="network diagram" descr="network.png">    </p:cNvPr>
          <p:cNvPicPr>
            <a:picLocks noChangeAspect="1"/>
          </p:cNvPicPr>
          <p:nvPr/>
        </p:nvPicPr>
        <p:blipFill>
          <a:blip r:embed="rId1"/>
          <a:stretch>
            <a:fillRect/>
          </a:stretch>
        </p:blipFill>
        <p:spPr>
          <a:xfrm>
            <a:off x="548640" y="1280160"/>
            <a:ext cx="6309360" cy="3403734"/>
          </a:xfrm>
          <a:prstGeom prst="rect">
            <a:avLst/>
          </a:prstGeom>
        </p:spPr>
      </p:pic>
      <p:sp>
        <p:nvSpPr>
          <p:cNvPr id="4" name="network bullets"/>
          <p:cNvSpPr txBox="1"/>
          <p:nvPr/>
        </p:nvSpPr>
        <p:spPr>
          <a:xfrm>
            <a:off x="7223760" y="1371600"/>
            <a:ext cx="4389120" cy="4754880"/>
          </a:xfrm>
          <a:prstGeom prst="rect">
            <a:avLst/>
          </a:prstGeom>
          <a:noFill/>
          <a:ln/>
        </p:spPr>
        <p:txBody>
          <a:bodyPr wrap="square" lIns="0" tIns="0" rIns="0" bIns="0" rtlCol="0" anchor="t"/>
          <a:lstStyle/>
          <a:p>
            <a:pPr marL="203200" indent="-203200">
              <a:spcAft>
                <a:spcPts val="600"/>
              </a:spcAft>
              <a:buSzPct val="100000"/>
              <a:buChar char="•"/>
            </a:pPr>
            <a:r>
              <a:rPr lang="en-US" sz="1600" b="1" dirty="0">
                <a:solidFill>
                  <a:schemeClr val="tx1"/>
                </a:solidFill>
              </a:rPr>
              <a:t>Public: </a:t>
            </a:r>
            <a:pPr indent="0" marL="0">
              <a:spcAft>
                <a:spcPts val="600"/>
              </a:spcAft>
              <a:buNone/>
            </a:pPr>
            <a:r>
              <a:rPr lang="en-US" sz="1600" dirty="0">
                <a:solidFill>
                  <a:schemeClr val="tx1"/>
                </a:solidFill>
              </a:rPr>
              <a:t>only the ALB and the NAT gateway</a:t>
            </a:r>
            <a:endParaRPr lang="en-US" sz="1600" dirty="0"/>
          </a:p>
          <a:p>
            <a:pPr marL="203200" indent="-203200">
              <a:spcAft>
                <a:spcPts val="600"/>
              </a:spcAft>
              <a:buSzPct val="100000"/>
              <a:buChar char="•"/>
            </a:pPr>
            <a:r>
              <a:rPr lang="en-US" sz="1600" b="1" dirty="0">
                <a:solidFill>
                  <a:schemeClr val="tx1"/>
                </a:solidFill>
              </a:rPr>
              <a:t>Private: </a:t>
            </a:r>
            <a:pPr indent="0" marL="0">
              <a:spcAft>
                <a:spcPts val="600"/>
              </a:spcAft>
              <a:buNone/>
            </a:pPr>
            <a:r>
              <a:rPr lang="en-US" sz="1600" dirty="0">
                <a:solidFill>
                  <a:schemeClr val="tx1"/>
                </a:solidFill>
              </a:rPr>
              <a:t>EKS nodes and pods; outbound through NAT</a:t>
            </a:r>
            <a:endParaRPr lang="en-US" sz="1600" dirty="0"/>
          </a:p>
          <a:p>
            <a:pPr marL="203200" indent="-203200">
              <a:spcAft>
                <a:spcPts val="600"/>
              </a:spcAft>
              <a:buSzPct val="100000"/>
              <a:buChar char="•"/>
            </a:pPr>
            <a:r>
              <a:rPr lang="en-US" sz="1600" b="1" dirty="0">
                <a:solidFill>
                  <a:schemeClr val="tx1"/>
                </a:solidFill>
              </a:rPr>
              <a:t>Database: </a:t>
            </a:r>
            <a:pPr indent="0" marL="0">
              <a:spcAft>
                <a:spcPts val="600"/>
              </a:spcAft>
              <a:buNone/>
            </a:pPr>
            <a:r>
              <a:rPr lang="en-US" sz="1600" dirty="0">
                <a:solidFill>
                  <a:schemeClr val="tx1"/>
                </a:solidFill>
              </a:rPr>
              <a:t>RDS with no internet route at all</a:t>
            </a:r>
            <a:endParaRPr lang="en-US" sz="1600" dirty="0"/>
          </a:p>
          <a:p>
            <a:pPr marL="203200" indent="-203200">
              <a:spcAft>
                <a:spcPts val="600"/>
              </a:spcAft>
              <a:buSzPct val="100000"/>
              <a:buChar char="•"/>
            </a:pPr>
            <a:r>
              <a:rPr lang="en-US" sz="1600" b="1" dirty="0">
                <a:solidFill>
                  <a:schemeClr val="tx1"/>
                </a:solidFill>
              </a:rPr>
              <a:t>Kubernetes API: </a:t>
            </a:r>
            <a:pPr indent="0" marL="0">
              <a:spcAft>
                <a:spcPts val="600"/>
              </a:spcAft>
              <a:buNone/>
            </a:pPr>
            <a:r>
              <a:rPr lang="en-US" sz="1600" dirty="0">
                <a:solidFill>
                  <a:schemeClr val="tx1"/>
                </a:solidFill>
              </a:rPr>
              <a:t>public endpoint limited to one /32 IP, private endpoint for nodes</a:t>
            </a:r>
            <a:endParaRPr lang="en-US" sz="1600" dirty="0"/>
          </a:p>
          <a:p>
            <a:pPr marL="203200" indent="-203200">
              <a:spcAft>
                <a:spcPts val="600"/>
              </a:spcAft>
              <a:buSzPct val="100000"/>
              <a:buChar char="•"/>
            </a:pPr>
            <a:r>
              <a:rPr lang="en-US" sz="1600" b="1" dirty="0">
                <a:solidFill>
                  <a:schemeClr val="tx1"/>
                </a:solidFill>
              </a:rPr>
              <a:t>One NAT gateway </a:t>
            </a:r>
            <a:pPr indent="0" marL="0">
              <a:spcAft>
                <a:spcPts val="600"/>
              </a:spcAft>
              <a:buNone/>
            </a:pPr>
            <a:r>
              <a:rPr lang="en-US" sz="1600" dirty="0">
                <a:solidFill>
                  <a:schemeClr val="tx1"/>
                </a:solidFill>
              </a:rPr>
              <a:t>for DEV to save cost; one per zone for PROD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Security built in, not bolted on</a:t>
            </a:r>
            <a:endParaRPr lang="en-US" sz="3200" dirty="0"/>
          </a:p>
        </p:txBody>
      </p:sp>
      <p:sp>
        <p:nvSpPr>
          <p:cNvPr id="3" name="Right account, every time card"/>
          <p:cNvSpPr/>
          <p:nvPr/>
        </p:nvSpPr>
        <p:spPr>
          <a:xfrm>
            <a:off x="548640" y="1371600"/>
            <a:ext cx="3474720" cy="2103120"/>
          </a:xfrm>
          <a:prstGeom prst="roundRect">
            <a:avLst>
              <a:gd name="adj" fmla="val 5217"/>
            </a:avLst>
          </a:prstGeom>
          <a:solidFill>
            <a:schemeClr val="bg2"/>
          </a:solidFill>
          <a:ln w="12700">
            <a:solidFill>
              <a:schemeClr val="bg2"/>
            </a:solidFill>
            <a:prstDash val="solid"/>
          </a:ln>
        </p:spPr>
      </p:sp>
      <p:sp>
        <p:nvSpPr>
          <p:cNvPr id="4" name="Right account, every time circle"/>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5" name="Right account, every time icon" descr="preencoded.png">    </p:cNvPr>
          <p:cNvPicPr>
            <a:picLocks noChangeAspect="1"/>
          </p:cNvPicPr>
          <p:nvPr/>
        </p:nvPicPr>
        <p:blipFill>
          <a:blip r:embed="rId1"/>
          <a:stretch>
            <a:fillRect/>
          </a:stretch>
        </p:blipFill>
        <p:spPr>
          <a:xfrm>
            <a:off x="919886" y="1742846"/>
            <a:ext cx="263347" cy="263347"/>
          </a:xfrm>
          <a:prstGeom prst="rect">
            <a:avLst/>
          </a:prstGeom>
        </p:spPr>
      </p:pic>
      <p:sp>
        <p:nvSpPr>
          <p:cNvPr id="6" name="Right account, every time title"/>
          <p:cNvSpPr txBox="1"/>
          <p:nvPr/>
        </p:nvSpPr>
        <p:spPr>
          <a:xfrm>
            <a:off x="1463040" y="157276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Right account, every time</a:t>
            </a:r>
            <a:endParaRPr lang="en-US" sz="1600" dirty="0"/>
          </a:p>
        </p:txBody>
      </p:sp>
      <p:sp>
        <p:nvSpPr>
          <p:cNvPr id="7" name="Right account, every time text"/>
          <p:cNvSpPr txBox="1"/>
          <p:nvPr/>
        </p:nvSpPr>
        <p:spPr>
          <a:xfrm>
            <a:off x="777240" y="2286000"/>
            <a:ext cx="3017520" cy="1051560"/>
          </a:xfrm>
          <a:prstGeom prst="rect">
            <a:avLst/>
          </a:prstGeom>
          <a:noFill/>
          <a:ln/>
        </p:spPr>
        <p:txBody>
          <a:bodyPr wrap="square" lIns="0" tIns="0" rIns="0" bIns="0" rtlCol="0" anchor="t"/>
          <a:lstStyle/>
          <a:p>
            <a:pPr indent="0" marL="0">
              <a:buNone/>
            </a:pPr>
            <a:r>
              <a:rPr lang="en-US" sz="1400" dirty="0">
                <a:solidFill>
                  <a:schemeClr val="tx1"/>
                </a:solidFill>
              </a:rPr>
              <a:t>Terraform allowed_account_ids and a pipeline check refuse any other account</a:t>
            </a:r>
            <a:endParaRPr lang="en-US" sz="1400" dirty="0"/>
          </a:p>
        </p:txBody>
      </p:sp>
      <p:sp>
        <p:nvSpPr>
          <p:cNvPr id="8" name="Least-privilege IAM card"/>
          <p:cNvSpPr/>
          <p:nvPr/>
        </p:nvSpPr>
        <p:spPr>
          <a:xfrm>
            <a:off x="4297680" y="1371600"/>
            <a:ext cx="3474720" cy="2103120"/>
          </a:xfrm>
          <a:prstGeom prst="roundRect">
            <a:avLst>
              <a:gd name="adj" fmla="val 5217"/>
            </a:avLst>
          </a:prstGeom>
          <a:solidFill>
            <a:schemeClr val="bg2"/>
          </a:solidFill>
          <a:ln w="12700">
            <a:solidFill>
              <a:schemeClr val="bg2"/>
            </a:solidFill>
            <a:prstDash val="solid"/>
          </a:ln>
        </p:spPr>
      </p:sp>
      <p:sp>
        <p:nvSpPr>
          <p:cNvPr id="9" name="Least-privilege IAM circle"/>
          <p:cNvSpPr/>
          <p:nvPr/>
        </p:nvSpPr>
        <p:spPr>
          <a:xfrm>
            <a:off x="4526280" y="1600200"/>
            <a:ext cx="548640" cy="548640"/>
          </a:xfrm>
          <a:prstGeom prst="ellipse">
            <a:avLst/>
          </a:prstGeom>
          <a:solidFill>
            <a:schemeClr val="accent1"/>
          </a:solidFill>
          <a:ln w="12700">
            <a:solidFill>
              <a:schemeClr val="accent1"/>
            </a:solidFill>
            <a:prstDash val="solid"/>
          </a:ln>
        </p:spPr>
      </p:sp>
      <p:pic>
        <p:nvPicPr>
          <p:cNvPr id="10" name="Least-privilege IAM icon" descr="preencoded.png">    </p:cNvPr>
          <p:cNvPicPr>
            <a:picLocks noChangeAspect="1"/>
          </p:cNvPicPr>
          <p:nvPr/>
        </p:nvPicPr>
        <p:blipFill>
          <a:blip r:embed="rId2"/>
          <a:stretch>
            <a:fillRect/>
          </a:stretch>
        </p:blipFill>
        <p:spPr>
          <a:xfrm>
            <a:off x="4668926" y="1742846"/>
            <a:ext cx="263347" cy="263347"/>
          </a:xfrm>
          <a:prstGeom prst="rect">
            <a:avLst/>
          </a:prstGeom>
        </p:spPr>
      </p:pic>
      <p:sp>
        <p:nvSpPr>
          <p:cNvPr id="11" name="Least-privilege IAM title"/>
          <p:cNvSpPr txBox="1"/>
          <p:nvPr/>
        </p:nvSpPr>
        <p:spPr>
          <a:xfrm>
            <a:off x="5212080" y="157276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Least-privilege IAM</a:t>
            </a:r>
            <a:endParaRPr lang="en-US" sz="1600" dirty="0"/>
          </a:p>
        </p:txBody>
      </p:sp>
      <p:sp>
        <p:nvSpPr>
          <p:cNvPr id="12" name="Least-privilege IAM text"/>
          <p:cNvSpPr txBox="1"/>
          <p:nvPr/>
        </p:nvSpPr>
        <p:spPr>
          <a:xfrm>
            <a:off x="4526280" y="2286000"/>
            <a:ext cx="3017520" cy="1051560"/>
          </a:xfrm>
          <a:prstGeom prst="rect">
            <a:avLst/>
          </a:prstGeom>
          <a:noFill/>
          <a:ln/>
        </p:spPr>
        <p:txBody>
          <a:bodyPr wrap="square" lIns="0" tIns="0" rIns="0" bIns="0" rtlCol="0" anchor="t"/>
          <a:lstStyle/>
          <a:p>
            <a:pPr indent="0" marL="0">
              <a:buNone/>
            </a:pPr>
            <a:r>
              <a:rPr lang="en-US" sz="1400" dirty="0">
                <a:solidFill>
                  <a:schemeClr val="tx1"/>
                </a:solidFill>
              </a:rPr>
              <a:t>Jenkins can push to ECR and edit only its namespace through an EKS access entry</a:t>
            </a:r>
            <a:endParaRPr lang="en-US" sz="1400" dirty="0"/>
          </a:p>
        </p:txBody>
      </p:sp>
      <p:sp>
        <p:nvSpPr>
          <p:cNvPr id="13" name="No secrets in Git card"/>
          <p:cNvSpPr/>
          <p:nvPr/>
        </p:nvSpPr>
        <p:spPr>
          <a:xfrm>
            <a:off x="8046720" y="1371600"/>
            <a:ext cx="3474720" cy="2103120"/>
          </a:xfrm>
          <a:prstGeom prst="roundRect">
            <a:avLst>
              <a:gd name="adj" fmla="val 5217"/>
            </a:avLst>
          </a:prstGeom>
          <a:solidFill>
            <a:schemeClr val="bg2"/>
          </a:solidFill>
          <a:ln w="12700">
            <a:solidFill>
              <a:schemeClr val="bg2"/>
            </a:solidFill>
            <a:prstDash val="solid"/>
          </a:ln>
        </p:spPr>
      </p:sp>
      <p:sp>
        <p:nvSpPr>
          <p:cNvPr id="14" name="No secrets in Git circle"/>
          <p:cNvSpPr/>
          <p:nvPr/>
        </p:nvSpPr>
        <p:spPr>
          <a:xfrm>
            <a:off x="8275320" y="1600200"/>
            <a:ext cx="548640" cy="548640"/>
          </a:xfrm>
          <a:prstGeom prst="ellipse">
            <a:avLst/>
          </a:prstGeom>
          <a:solidFill>
            <a:schemeClr val="accent1"/>
          </a:solidFill>
          <a:ln w="12700">
            <a:solidFill>
              <a:schemeClr val="accent1"/>
            </a:solidFill>
            <a:prstDash val="solid"/>
          </a:ln>
        </p:spPr>
      </p:sp>
      <p:pic>
        <p:nvPicPr>
          <p:cNvPr id="15" name="No secrets in Git icon" descr="preencoded.png">    </p:cNvPr>
          <p:cNvPicPr>
            <a:picLocks noChangeAspect="1"/>
          </p:cNvPicPr>
          <p:nvPr/>
        </p:nvPicPr>
        <p:blipFill>
          <a:blip r:embed="rId3"/>
          <a:stretch>
            <a:fillRect/>
          </a:stretch>
        </p:blipFill>
        <p:spPr>
          <a:xfrm>
            <a:off x="8417966" y="1742846"/>
            <a:ext cx="263347" cy="263347"/>
          </a:xfrm>
          <a:prstGeom prst="rect">
            <a:avLst/>
          </a:prstGeom>
        </p:spPr>
      </p:pic>
      <p:sp>
        <p:nvSpPr>
          <p:cNvPr id="16" name="No secrets in Git title"/>
          <p:cNvSpPr txBox="1"/>
          <p:nvPr/>
        </p:nvSpPr>
        <p:spPr>
          <a:xfrm>
            <a:off x="8961120" y="157276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No secrets in Git</a:t>
            </a:r>
            <a:endParaRPr lang="en-US" sz="1600" dirty="0"/>
          </a:p>
        </p:txBody>
      </p:sp>
      <p:sp>
        <p:nvSpPr>
          <p:cNvPr id="17" name="No secrets in Git text"/>
          <p:cNvSpPr txBox="1"/>
          <p:nvPr/>
        </p:nvSpPr>
        <p:spPr>
          <a:xfrm>
            <a:off x="8275320" y="2286000"/>
            <a:ext cx="3017520" cy="1051560"/>
          </a:xfrm>
          <a:prstGeom prst="rect">
            <a:avLst/>
          </a:prstGeom>
          <a:noFill/>
          <a:ln/>
        </p:spPr>
        <p:txBody>
          <a:bodyPr wrap="square" lIns="0" tIns="0" rIns="0" bIns="0" rtlCol="0" anchor="t"/>
          <a:lstStyle/>
          <a:p>
            <a:pPr indent="0" marL="0">
              <a:buNone/>
            </a:pPr>
            <a:r>
              <a:rPr lang="en-US" sz="1400" dirty="0">
                <a:solidFill>
                  <a:schemeClr val="tx1"/>
                </a:solidFill>
              </a:rPr>
              <a:t>RDS password managed by AWS in Secrets Manager; pods read it from a K8s secret</a:t>
            </a:r>
            <a:endParaRPr lang="en-US" sz="1400" dirty="0"/>
          </a:p>
        </p:txBody>
      </p:sp>
      <p:sp>
        <p:nvSpPr>
          <p:cNvPr id="18" name="Encryption everywhere card"/>
          <p:cNvSpPr/>
          <p:nvPr/>
        </p:nvSpPr>
        <p:spPr>
          <a:xfrm>
            <a:off x="548640" y="3749040"/>
            <a:ext cx="3474720" cy="2103120"/>
          </a:xfrm>
          <a:prstGeom prst="roundRect">
            <a:avLst>
              <a:gd name="adj" fmla="val 5217"/>
            </a:avLst>
          </a:prstGeom>
          <a:solidFill>
            <a:schemeClr val="bg2"/>
          </a:solidFill>
          <a:ln w="12700">
            <a:solidFill>
              <a:schemeClr val="bg2"/>
            </a:solidFill>
            <a:prstDash val="solid"/>
          </a:ln>
        </p:spPr>
      </p:sp>
      <p:sp>
        <p:nvSpPr>
          <p:cNvPr id="19" name="Encryption everywhere circle"/>
          <p:cNvSpPr/>
          <p:nvPr/>
        </p:nvSpPr>
        <p:spPr>
          <a:xfrm>
            <a:off x="777240" y="3977640"/>
            <a:ext cx="548640" cy="548640"/>
          </a:xfrm>
          <a:prstGeom prst="ellipse">
            <a:avLst/>
          </a:prstGeom>
          <a:solidFill>
            <a:schemeClr val="accent1"/>
          </a:solidFill>
          <a:ln w="12700">
            <a:solidFill>
              <a:schemeClr val="accent1"/>
            </a:solidFill>
            <a:prstDash val="solid"/>
          </a:ln>
        </p:spPr>
      </p:sp>
      <p:pic>
        <p:nvPicPr>
          <p:cNvPr id="20" name="Encryption everywhere icon" descr="preencoded.png">    </p:cNvPr>
          <p:cNvPicPr>
            <a:picLocks noChangeAspect="1"/>
          </p:cNvPicPr>
          <p:nvPr/>
        </p:nvPicPr>
        <p:blipFill>
          <a:blip r:embed="rId4"/>
          <a:stretch>
            <a:fillRect/>
          </a:stretch>
        </p:blipFill>
        <p:spPr>
          <a:xfrm>
            <a:off x="919886" y="4120286"/>
            <a:ext cx="263347" cy="263347"/>
          </a:xfrm>
          <a:prstGeom prst="rect">
            <a:avLst/>
          </a:prstGeom>
        </p:spPr>
      </p:pic>
      <p:sp>
        <p:nvSpPr>
          <p:cNvPr id="21" name="Encryption everywhere title"/>
          <p:cNvSpPr txBox="1"/>
          <p:nvPr/>
        </p:nvSpPr>
        <p:spPr>
          <a:xfrm>
            <a:off x="1463040" y="395020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Encryption everywhere</a:t>
            </a:r>
            <a:endParaRPr lang="en-US" sz="1600" dirty="0"/>
          </a:p>
        </p:txBody>
      </p:sp>
      <p:sp>
        <p:nvSpPr>
          <p:cNvPr id="22" name="Encryption everywhere text"/>
          <p:cNvSpPr txBox="1"/>
          <p:nvPr/>
        </p:nvSpPr>
        <p:spPr>
          <a:xfrm>
            <a:off x="777240" y="4663440"/>
            <a:ext cx="3017520" cy="1051560"/>
          </a:xfrm>
          <a:prstGeom prst="rect">
            <a:avLst/>
          </a:prstGeom>
          <a:noFill/>
          <a:ln/>
        </p:spPr>
        <p:txBody>
          <a:bodyPr wrap="square" lIns="0" tIns="0" rIns="0" bIns="0" rtlCol="0" anchor="t"/>
          <a:lstStyle/>
          <a:p>
            <a:pPr indent="0" marL="0">
              <a:buNone/>
            </a:pPr>
            <a:r>
              <a:rPr lang="en-US" sz="1400" dirty="0">
                <a:solidFill>
                  <a:schemeClr val="tx1"/>
                </a:solidFill>
              </a:rPr>
              <a:t>KMS for EKS secrets, SSL forced on RDS, encrypted S3 state</a:t>
            </a:r>
            <a:endParaRPr lang="en-US" sz="1400" dirty="0"/>
          </a:p>
        </p:txBody>
      </p:sp>
      <p:sp>
        <p:nvSpPr>
          <p:cNvPr id="23" name="Tight network edges card"/>
          <p:cNvSpPr/>
          <p:nvPr/>
        </p:nvSpPr>
        <p:spPr>
          <a:xfrm>
            <a:off x="4297680" y="3749040"/>
            <a:ext cx="3474720" cy="2103120"/>
          </a:xfrm>
          <a:prstGeom prst="roundRect">
            <a:avLst>
              <a:gd name="adj" fmla="val 5217"/>
            </a:avLst>
          </a:prstGeom>
          <a:solidFill>
            <a:schemeClr val="bg2"/>
          </a:solidFill>
          <a:ln w="12700">
            <a:solidFill>
              <a:schemeClr val="bg2"/>
            </a:solidFill>
            <a:prstDash val="solid"/>
          </a:ln>
        </p:spPr>
      </p:sp>
      <p:sp>
        <p:nvSpPr>
          <p:cNvPr id="24" name="Tight network edges circle"/>
          <p:cNvSpPr/>
          <p:nvPr/>
        </p:nvSpPr>
        <p:spPr>
          <a:xfrm>
            <a:off x="4526280" y="3977640"/>
            <a:ext cx="548640" cy="548640"/>
          </a:xfrm>
          <a:prstGeom prst="ellipse">
            <a:avLst/>
          </a:prstGeom>
          <a:solidFill>
            <a:schemeClr val="accent1"/>
          </a:solidFill>
          <a:ln w="12700">
            <a:solidFill>
              <a:schemeClr val="accent1"/>
            </a:solidFill>
            <a:prstDash val="solid"/>
          </a:ln>
        </p:spPr>
      </p:sp>
      <p:pic>
        <p:nvPicPr>
          <p:cNvPr id="25" name="Tight network edges icon" descr="preencoded.png">    </p:cNvPr>
          <p:cNvPicPr>
            <a:picLocks noChangeAspect="1"/>
          </p:cNvPicPr>
          <p:nvPr/>
        </p:nvPicPr>
        <p:blipFill>
          <a:blip r:embed="rId5"/>
          <a:stretch>
            <a:fillRect/>
          </a:stretch>
        </p:blipFill>
        <p:spPr>
          <a:xfrm>
            <a:off x="4668926" y="4120286"/>
            <a:ext cx="263347" cy="263347"/>
          </a:xfrm>
          <a:prstGeom prst="rect">
            <a:avLst/>
          </a:prstGeom>
        </p:spPr>
      </p:pic>
      <p:sp>
        <p:nvSpPr>
          <p:cNvPr id="26" name="Tight network edges title"/>
          <p:cNvSpPr txBox="1"/>
          <p:nvPr/>
        </p:nvSpPr>
        <p:spPr>
          <a:xfrm>
            <a:off x="5212080" y="395020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Tight network edges</a:t>
            </a:r>
            <a:endParaRPr lang="en-US" sz="1600" dirty="0"/>
          </a:p>
        </p:txBody>
      </p:sp>
      <p:sp>
        <p:nvSpPr>
          <p:cNvPr id="27" name="Tight network edges text"/>
          <p:cNvSpPr txBox="1"/>
          <p:nvPr/>
        </p:nvSpPr>
        <p:spPr>
          <a:xfrm>
            <a:off x="4526280" y="4663440"/>
            <a:ext cx="3017520" cy="1051560"/>
          </a:xfrm>
          <a:prstGeom prst="rect">
            <a:avLst/>
          </a:prstGeom>
          <a:noFill/>
          <a:ln/>
        </p:spPr>
        <p:txBody>
          <a:bodyPr wrap="square" lIns="0" tIns="0" rIns="0" bIns="0" rtlCol="0" anchor="t"/>
          <a:lstStyle/>
          <a:p>
            <a:pPr indent="0" marL="0">
              <a:buNone/>
            </a:pPr>
            <a:r>
              <a:rPr lang="en-US" sz="1400" dirty="0">
                <a:solidFill>
                  <a:schemeClr val="tx1"/>
                </a:solidFill>
              </a:rPr>
              <a:t>DB isolated, EKS API limited to one IP, security groups per tier</a:t>
            </a:r>
            <a:endParaRPr lang="en-US" sz="1400" dirty="0"/>
          </a:p>
        </p:txBody>
      </p:sp>
      <p:sp>
        <p:nvSpPr>
          <p:cNvPr id="28" name="Trusted images card"/>
          <p:cNvSpPr/>
          <p:nvPr/>
        </p:nvSpPr>
        <p:spPr>
          <a:xfrm>
            <a:off x="8046720" y="3749040"/>
            <a:ext cx="3474720" cy="2103120"/>
          </a:xfrm>
          <a:prstGeom prst="roundRect">
            <a:avLst>
              <a:gd name="adj" fmla="val 5217"/>
            </a:avLst>
          </a:prstGeom>
          <a:solidFill>
            <a:schemeClr val="bg2"/>
          </a:solidFill>
          <a:ln w="12700">
            <a:solidFill>
              <a:schemeClr val="bg2"/>
            </a:solidFill>
            <a:prstDash val="solid"/>
          </a:ln>
        </p:spPr>
      </p:sp>
      <p:sp>
        <p:nvSpPr>
          <p:cNvPr id="29" name="Trusted images circle"/>
          <p:cNvSpPr/>
          <p:nvPr/>
        </p:nvSpPr>
        <p:spPr>
          <a:xfrm>
            <a:off x="8275320" y="3977640"/>
            <a:ext cx="548640" cy="548640"/>
          </a:xfrm>
          <a:prstGeom prst="ellipse">
            <a:avLst/>
          </a:prstGeom>
          <a:solidFill>
            <a:schemeClr val="accent1"/>
          </a:solidFill>
          <a:ln w="12700">
            <a:solidFill>
              <a:schemeClr val="accent1"/>
            </a:solidFill>
            <a:prstDash val="solid"/>
          </a:ln>
        </p:spPr>
      </p:sp>
      <p:pic>
        <p:nvPicPr>
          <p:cNvPr id="30" name="Trusted images icon" descr="preencoded.png">    </p:cNvPr>
          <p:cNvPicPr>
            <a:picLocks noChangeAspect="1"/>
          </p:cNvPicPr>
          <p:nvPr/>
        </p:nvPicPr>
        <p:blipFill>
          <a:blip r:embed="rId6"/>
          <a:stretch>
            <a:fillRect/>
          </a:stretch>
        </p:blipFill>
        <p:spPr>
          <a:xfrm>
            <a:off x="8417966" y="4120286"/>
            <a:ext cx="263347" cy="263347"/>
          </a:xfrm>
          <a:prstGeom prst="rect">
            <a:avLst/>
          </a:prstGeom>
        </p:spPr>
      </p:pic>
      <p:sp>
        <p:nvSpPr>
          <p:cNvPr id="31" name="Trusted images title"/>
          <p:cNvSpPr txBox="1"/>
          <p:nvPr/>
        </p:nvSpPr>
        <p:spPr>
          <a:xfrm>
            <a:off x="8961120" y="395020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Trusted images</a:t>
            </a:r>
            <a:endParaRPr lang="en-US" sz="1600" dirty="0"/>
          </a:p>
        </p:txBody>
      </p:sp>
      <p:sp>
        <p:nvSpPr>
          <p:cNvPr id="32" name="Trusted images text"/>
          <p:cNvSpPr txBox="1"/>
          <p:nvPr/>
        </p:nvSpPr>
        <p:spPr>
          <a:xfrm>
            <a:off x="8275320" y="4663440"/>
            <a:ext cx="3017520" cy="1051560"/>
          </a:xfrm>
          <a:prstGeom prst="rect">
            <a:avLst/>
          </a:prstGeom>
          <a:noFill/>
          <a:ln/>
        </p:spPr>
        <p:txBody>
          <a:bodyPr wrap="square" lIns="0" tIns="0" rIns="0" bIns="0" rtlCol="0" anchor="t"/>
          <a:lstStyle/>
          <a:p>
            <a:pPr indent="0" marL="0">
              <a:buNone/>
            </a:pPr>
            <a:r>
              <a:rPr lang="en-US" sz="1400" dirty="0">
                <a:solidFill>
                  <a:schemeClr val="tx1"/>
                </a:solidFill>
              </a:rPr>
              <a:t>Immutable ECR tags, scan on push, IMDSv2-only nodes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Kubernetes runtime and data layer</a:t>
            </a:r>
            <a:endParaRPr lang="en-US" sz="3200" dirty="0"/>
          </a:p>
        </p:txBody>
      </p:sp>
      <p:sp>
        <p:nvSpPr>
          <p:cNvPr id="3" name="runtime panel"/>
          <p:cNvSpPr/>
          <p:nvPr/>
        </p:nvSpPr>
        <p:spPr>
          <a:xfrm>
            <a:off x="548640" y="1371600"/>
            <a:ext cx="5394960" cy="4663440"/>
          </a:xfrm>
          <a:prstGeom prst="roundRect">
            <a:avLst>
              <a:gd name="adj" fmla="val 2353"/>
            </a:avLst>
          </a:prstGeom>
          <a:solidFill>
            <a:schemeClr val="bg2"/>
          </a:solidFill>
          <a:ln w="12700">
            <a:solidFill>
              <a:schemeClr val="bg2"/>
            </a:solidFill>
            <a:prstDash val="solid"/>
          </a:ln>
        </p:spPr>
      </p:sp>
      <p:sp>
        <p:nvSpPr>
          <p:cNvPr id="4" name="runtime circle"/>
          <p:cNvSpPr/>
          <p:nvPr/>
        </p:nvSpPr>
        <p:spPr>
          <a:xfrm>
            <a:off x="822960" y="1600200"/>
            <a:ext cx="640080" cy="640080"/>
          </a:xfrm>
          <a:prstGeom prst="ellipse">
            <a:avLst/>
          </a:prstGeom>
          <a:solidFill>
            <a:schemeClr val="accent1"/>
          </a:solidFill>
          <a:ln w="12700">
            <a:solidFill>
              <a:schemeClr val="accent1"/>
            </a:solidFill>
            <a:prstDash val="solid"/>
          </a:ln>
        </p:spPr>
      </p:sp>
      <p:pic>
        <p:nvPicPr>
          <p:cNvPr id="5" name="runtime icon" descr="preencoded.png">    </p:cNvPr>
          <p:cNvPicPr>
            <a:picLocks noChangeAspect="1"/>
          </p:cNvPicPr>
          <p:nvPr/>
        </p:nvPicPr>
        <p:blipFill>
          <a:blip r:embed="rId1"/>
          <a:stretch>
            <a:fillRect/>
          </a:stretch>
        </p:blipFill>
        <p:spPr>
          <a:xfrm>
            <a:off x="989381" y="1766621"/>
            <a:ext cx="307238" cy="307238"/>
          </a:xfrm>
          <a:prstGeom prst="rect">
            <a:avLst/>
          </a:prstGeom>
        </p:spPr>
      </p:pic>
      <p:sp>
        <p:nvSpPr>
          <p:cNvPr id="6" name="runtime title"/>
          <p:cNvSpPr txBox="1"/>
          <p:nvPr/>
        </p:nvSpPr>
        <p:spPr>
          <a:xfrm>
            <a:off x="1645920" y="1600200"/>
            <a:ext cx="4114800" cy="640080"/>
          </a:xfrm>
          <a:prstGeom prst="rect">
            <a:avLst/>
          </a:prstGeom>
          <a:noFill/>
          <a:ln/>
        </p:spPr>
        <p:txBody>
          <a:bodyPr wrap="square" lIns="0" tIns="0" rIns="0" bIns="0" rtlCol="0" anchor="ctr"/>
          <a:lstStyle/>
          <a:p>
            <a:pPr indent="0" marL="0">
              <a:buNone/>
            </a:pPr>
            <a:r>
              <a:rPr lang="en-US" sz="2000" b="1" dirty="0">
                <a:solidFill>
                  <a:schemeClr val="tx1"/>
                </a:solidFill>
              </a:rPr>
              <a:t>Amazon EKS + Helm</a:t>
            </a:r>
            <a:endParaRPr lang="en-US" sz="2000" dirty="0"/>
          </a:p>
        </p:txBody>
      </p:sp>
      <p:sp>
        <p:nvSpPr>
          <p:cNvPr id="7" name="runtime bullets"/>
          <p:cNvSpPr txBox="1"/>
          <p:nvPr/>
        </p:nvSpPr>
        <p:spPr>
          <a:xfrm>
            <a:off x="822960" y="2423160"/>
            <a:ext cx="4937760" cy="34747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One Helm chart, two values files: minikube and aws-dev</a:t>
            </a:r>
            <a:endParaRPr lang="en-US" sz="1500" dirty="0"/>
          </a:p>
          <a:p>
            <a:pPr marL="203200" indent="-203200">
              <a:spcAft>
                <a:spcPts val="600"/>
              </a:spcAft>
              <a:buSzPct val="100000"/>
              <a:buChar char="•"/>
            </a:pPr>
            <a:r>
              <a:rPr lang="en-US" sz="1500" dirty="0">
                <a:solidFill>
                  <a:schemeClr val="tx1"/>
                </a:solidFill>
              </a:rPr>
              <a:t>2 API + 2 UI replicas, rolling updates, readiness probes</a:t>
            </a:r>
            <a:endParaRPr lang="en-US" sz="1500" dirty="0"/>
          </a:p>
          <a:p>
            <a:pPr marL="203200" indent="-203200">
              <a:spcAft>
                <a:spcPts val="600"/>
              </a:spcAft>
              <a:buSzPct val="100000"/>
              <a:buChar char="•"/>
            </a:pPr>
            <a:r>
              <a:rPr lang="en-US" sz="1500" dirty="0">
                <a:solidFill>
                  <a:schemeClr val="tx1"/>
                </a:solidFill>
              </a:rPr>
              <a:t>Graviton t4g.medium nodes (arm64): cheaper, same arch as the Mac</a:t>
            </a:r>
            <a:endParaRPr lang="en-US" sz="1500" dirty="0"/>
          </a:p>
          <a:p>
            <a:pPr marL="203200" indent="-203200">
              <a:spcAft>
                <a:spcPts val="600"/>
              </a:spcAft>
              <a:buSzPct val="100000"/>
              <a:buChar char="•"/>
            </a:pPr>
            <a:r>
              <a:rPr lang="en-US" sz="1500" dirty="0">
                <a:solidFill>
                  <a:schemeClr val="tx1"/>
                </a:solidFill>
              </a:rPr>
              <a:t>Add-ons: VPC CNI, CoreDNS, Pod Identity, CloudWatch observability</a:t>
            </a:r>
            <a:endParaRPr lang="en-US" sz="1500" dirty="0"/>
          </a:p>
          <a:p>
            <a:pPr marL="203200" indent="-203200">
              <a:spcAft>
                <a:spcPts val="600"/>
              </a:spcAft>
              <a:buSzPct val="100000"/>
              <a:buChar char="•"/>
            </a:pPr>
            <a:r>
              <a:rPr lang="en-US" sz="1500" dirty="0">
                <a:solidFill>
                  <a:schemeClr val="tx1"/>
                </a:solidFill>
              </a:rPr>
              <a:t>Load balancer controller gets AWS rights via Pod Identity</a:t>
            </a:r>
            <a:endParaRPr lang="en-US" sz="1500" dirty="0"/>
          </a:p>
        </p:txBody>
      </p:sp>
      <p:sp>
        <p:nvSpPr>
          <p:cNvPr id="8" name="data panel"/>
          <p:cNvSpPr/>
          <p:nvPr/>
        </p:nvSpPr>
        <p:spPr>
          <a:xfrm>
            <a:off x="6217920" y="1371600"/>
            <a:ext cx="5394960" cy="4663440"/>
          </a:xfrm>
          <a:prstGeom prst="roundRect">
            <a:avLst>
              <a:gd name="adj" fmla="val 2353"/>
            </a:avLst>
          </a:prstGeom>
          <a:solidFill>
            <a:schemeClr val="tx1"/>
          </a:solidFill>
          <a:ln w="12700">
            <a:solidFill>
              <a:schemeClr val="tx1"/>
            </a:solidFill>
            <a:prstDash val="solid"/>
          </a:ln>
        </p:spPr>
      </p:sp>
      <p:sp>
        <p:nvSpPr>
          <p:cNvPr id="9" name="data circle"/>
          <p:cNvSpPr/>
          <p:nvPr/>
        </p:nvSpPr>
        <p:spPr>
          <a:xfrm>
            <a:off x="6492240" y="1600200"/>
            <a:ext cx="640080" cy="640080"/>
          </a:xfrm>
          <a:prstGeom prst="ellipse">
            <a:avLst/>
          </a:prstGeom>
          <a:solidFill>
            <a:schemeClr val="accent2"/>
          </a:solidFill>
          <a:ln w="12700">
            <a:solidFill>
              <a:schemeClr val="accent2"/>
            </a:solidFill>
            <a:prstDash val="solid"/>
          </a:ln>
        </p:spPr>
      </p:sp>
      <p:pic>
        <p:nvPicPr>
          <p:cNvPr id="10" name="data icon" descr="preencoded.png">    </p:cNvPr>
          <p:cNvPicPr>
            <a:picLocks noChangeAspect="1"/>
          </p:cNvPicPr>
          <p:nvPr/>
        </p:nvPicPr>
        <p:blipFill>
          <a:blip r:embed="rId2"/>
          <a:stretch>
            <a:fillRect/>
          </a:stretch>
        </p:blipFill>
        <p:spPr>
          <a:xfrm>
            <a:off x="6658661" y="1766621"/>
            <a:ext cx="307238" cy="307238"/>
          </a:xfrm>
          <a:prstGeom prst="rect">
            <a:avLst/>
          </a:prstGeom>
        </p:spPr>
      </p:pic>
      <p:sp>
        <p:nvSpPr>
          <p:cNvPr id="11" name="data title"/>
          <p:cNvSpPr txBox="1"/>
          <p:nvPr/>
        </p:nvSpPr>
        <p:spPr>
          <a:xfrm>
            <a:off x="7315200" y="1600200"/>
            <a:ext cx="4114800" cy="640080"/>
          </a:xfrm>
          <a:prstGeom prst="rect">
            <a:avLst/>
          </a:prstGeom>
          <a:noFill/>
          <a:ln/>
        </p:spPr>
        <p:txBody>
          <a:bodyPr wrap="square" lIns="0" tIns="0" rIns="0" bIns="0" rtlCol="0" anchor="ctr"/>
          <a:lstStyle/>
          <a:p>
            <a:pPr indent="0" marL="0">
              <a:buNone/>
            </a:pPr>
            <a:r>
              <a:rPr lang="en-US" sz="2000" b="1" dirty="0">
                <a:solidFill>
                  <a:schemeClr val="bg1"/>
                </a:solidFill>
              </a:rPr>
              <a:t>Amazon RDS PostgreSQL 16</a:t>
            </a:r>
            <a:endParaRPr lang="en-US" sz="2000" dirty="0"/>
          </a:p>
        </p:txBody>
      </p:sp>
      <p:sp>
        <p:nvSpPr>
          <p:cNvPr id="12" name="data bullets"/>
          <p:cNvSpPr txBox="1"/>
          <p:nvPr/>
        </p:nvSpPr>
        <p:spPr>
          <a:xfrm>
            <a:off x="6492240" y="2423160"/>
            <a:ext cx="4937760" cy="34747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bg1"/>
                </a:solidFill>
              </a:rPr>
              <a:t>db.t4g.micro in private database subnets</a:t>
            </a:r>
            <a:endParaRPr lang="en-US" sz="1500" dirty="0"/>
          </a:p>
          <a:p>
            <a:pPr marL="203200" indent="-203200">
              <a:spcAft>
                <a:spcPts val="600"/>
              </a:spcAft>
              <a:buSzPct val="100000"/>
              <a:buChar char="•"/>
            </a:pPr>
            <a:r>
              <a:rPr lang="en-US" sz="1500" dirty="0">
                <a:solidFill>
                  <a:schemeClr val="bg1"/>
                </a:solidFill>
              </a:rPr>
              <a:t>Master password generated and stored by RDS in Secrets Manager</a:t>
            </a:r>
            <a:endParaRPr lang="en-US" sz="1500" dirty="0"/>
          </a:p>
          <a:p>
            <a:pPr marL="203200" indent="-203200">
              <a:spcAft>
                <a:spcPts val="600"/>
              </a:spcAft>
              <a:buSzPct val="100000"/>
              <a:buChar char="•"/>
            </a:pPr>
            <a:r>
              <a:rPr lang="en-US" sz="1500" dirty="0">
                <a:solidFill>
                  <a:schemeClr val="bg1"/>
                </a:solidFill>
              </a:rPr>
              <a:t>SSL enforced; case-insensitive unique email index</a:t>
            </a:r>
            <a:endParaRPr lang="en-US" sz="1500" dirty="0"/>
          </a:p>
          <a:p>
            <a:pPr marL="203200" indent="-203200">
              <a:spcAft>
                <a:spcPts val="600"/>
              </a:spcAft>
              <a:buSzPct val="100000"/>
              <a:buChar char="•"/>
            </a:pPr>
            <a:r>
              <a:rPr lang="en-US" sz="1500" dirty="0">
                <a:solidFill>
                  <a:schemeClr val="bg1"/>
                </a:solidFill>
              </a:rPr>
              <a:t>First start seeds 12 sample employees, guarded by an advisory lock so replicas never race</a:t>
            </a:r>
            <a:endParaRPr lang="en-US" sz="1500" dirty="0"/>
          </a:p>
          <a:p>
            <a:pPr marL="203200" indent="-203200">
              <a:spcAft>
                <a:spcPts val="600"/>
              </a:spcAft>
              <a:buSzPct val="100000"/>
              <a:buChar char="•"/>
            </a:pPr>
            <a:r>
              <a:rPr lang="en-US" sz="1500" dirty="0">
                <a:solidFill>
                  <a:schemeClr val="bg1"/>
                </a:solidFill>
              </a:rPr>
              <a:t>Automated backups; deletion protection ready for PROD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Observability and cost governance</a:t>
            </a:r>
            <a:endParaRPr lang="en-US" sz="3200" dirty="0"/>
          </a:p>
        </p:txBody>
      </p:sp>
      <p:graphicFrame>
        <p:nvGraphicFramePr>
          <p:cNvPr id="3" name="cost chart" descr=""/>
          <p:cNvGraphicFramePr/>
          <p:nvPr/>
        </p:nvGraphicFramePr>
        <p:xfrm>
          <a:off x="548640" y="1280160"/>
          <a:ext cx="6217920" cy="4754880"/>
        </p:xfrm>
        <a:graphic xmlns:a="http://schemas.openxmlformats.org/drawingml/2006/main">
          <a:graphicData uri="http://schemas.openxmlformats.org/drawingml/2006/chart">
            <c:chart xmlns:c="http://schemas.openxmlformats.org/drawingml/2006/chart" r:id="rId1"/>
          </a:graphicData>
        </a:graphic>
      </p:graphicFrame>
      <p:sp>
        <p:nvSpPr>
          <p:cNvPr id="4" name="Who spent what card"/>
          <p:cNvSpPr/>
          <p:nvPr/>
        </p:nvSpPr>
        <p:spPr>
          <a:xfrm>
            <a:off x="7132320" y="1280160"/>
            <a:ext cx="4480560" cy="1463040"/>
          </a:xfrm>
          <a:prstGeom prst="roundRect">
            <a:avLst>
              <a:gd name="adj" fmla="val 7500"/>
            </a:avLst>
          </a:prstGeom>
          <a:solidFill>
            <a:schemeClr val="bg2"/>
          </a:solidFill>
          <a:ln w="12700">
            <a:solidFill>
              <a:schemeClr val="bg2"/>
            </a:solidFill>
            <a:prstDash val="solid"/>
          </a:ln>
        </p:spPr>
      </p:sp>
      <p:sp>
        <p:nvSpPr>
          <p:cNvPr id="5" name="Who spent what circle"/>
          <p:cNvSpPr/>
          <p:nvPr/>
        </p:nvSpPr>
        <p:spPr>
          <a:xfrm>
            <a:off x="7360920" y="1508760"/>
            <a:ext cx="548640" cy="548640"/>
          </a:xfrm>
          <a:prstGeom prst="ellipse">
            <a:avLst/>
          </a:prstGeom>
          <a:solidFill>
            <a:schemeClr val="accent1"/>
          </a:solidFill>
          <a:ln w="12700">
            <a:solidFill>
              <a:schemeClr val="accent1"/>
            </a:solidFill>
            <a:prstDash val="solid"/>
          </a:ln>
        </p:spPr>
      </p:sp>
      <p:pic>
        <p:nvPicPr>
          <p:cNvPr id="6" name="Who spent what icon" descr="preencoded.png">    </p:cNvPr>
          <p:cNvPicPr>
            <a:picLocks noChangeAspect="1"/>
          </p:cNvPicPr>
          <p:nvPr/>
        </p:nvPicPr>
        <p:blipFill>
          <a:blip r:embed="rId2"/>
          <a:stretch>
            <a:fillRect/>
          </a:stretch>
        </p:blipFill>
        <p:spPr>
          <a:xfrm>
            <a:off x="7503566" y="1651406"/>
            <a:ext cx="263347" cy="263347"/>
          </a:xfrm>
          <a:prstGeom prst="rect">
            <a:avLst/>
          </a:prstGeom>
        </p:spPr>
      </p:pic>
      <p:sp>
        <p:nvSpPr>
          <p:cNvPr id="7" name="Who spent what title"/>
          <p:cNvSpPr txBox="1"/>
          <p:nvPr/>
        </p:nvSpPr>
        <p:spPr>
          <a:xfrm>
            <a:off x="8046720" y="1481328"/>
            <a:ext cx="3383280" cy="594360"/>
          </a:xfrm>
          <a:prstGeom prst="rect">
            <a:avLst/>
          </a:prstGeom>
          <a:noFill/>
          <a:ln/>
        </p:spPr>
        <p:txBody>
          <a:bodyPr wrap="square" lIns="0" tIns="0" rIns="0" bIns="0" rtlCol="0" anchor="ctr"/>
          <a:lstStyle/>
          <a:p>
            <a:pPr indent="0" marL="0">
              <a:buNone/>
            </a:pPr>
            <a:r>
              <a:rPr lang="en-US" sz="1600" b="1" dirty="0">
                <a:solidFill>
                  <a:schemeClr val="tx1"/>
                </a:solidFill>
              </a:rPr>
              <a:t>Who spent what</a:t>
            </a:r>
            <a:endParaRPr lang="en-US" sz="1600" dirty="0"/>
          </a:p>
        </p:txBody>
      </p:sp>
      <p:sp>
        <p:nvSpPr>
          <p:cNvPr id="8" name="Who spent what text"/>
          <p:cNvSpPr txBox="1"/>
          <p:nvPr/>
        </p:nvSpPr>
        <p:spPr>
          <a:xfrm>
            <a:off x="7360920" y="2194560"/>
            <a:ext cx="4023360" cy="411480"/>
          </a:xfrm>
          <a:prstGeom prst="rect">
            <a:avLst/>
          </a:prstGeom>
          <a:noFill/>
          <a:ln/>
        </p:spPr>
        <p:txBody>
          <a:bodyPr wrap="square" lIns="0" tIns="0" rIns="0" bIns="0" rtlCol="0" anchor="t"/>
          <a:lstStyle/>
          <a:p>
            <a:pPr indent="0" marL="0">
              <a:buNone/>
            </a:pPr>
            <a:r>
              <a:rPr lang="en-US" sz="1400" dirty="0">
                <a:solidFill>
                  <a:schemeClr val="tx1"/>
                </a:solidFill>
              </a:rPr>
              <a:t>Owner, Project, Environment tags plus AWS aws:createdBy, all active in Cost Explorer</a:t>
            </a:r>
            <a:endParaRPr lang="en-US" sz="1400" dirty="0"/>
          </a:p>
        </p:txBody>
      </p:sp>
      <p:sp>
        <p:nvSpPr>
          <p:cNvPr id="9" name="Early warning card"/>
          <p:cNvSpPr/>
          <p:nvPr/>
        </p:nvSpPr>
        <p:spPr>
          <a:xfrm>
            <a:off x="7132320" y="2907792"/>
            <a:ext cx="4480560" cy="1463040"/>
          </a:xfrm>
          <a:prstGeom prst="roundRect">
            <a:avLst>
              <a:gd name="adj" fmla="val 7500"/>
            </a:avLst>
          </a:prstGeom>
          <a:solidFill>
            <a:schemeClr val="bg2"/>
          </a:solidFill>
          <a:ln w="12700">
            <a:solidFill>
              <a:schemeClr val="bg2"/>
            </a:solidFill>
            <a:prstDash val="solid"/>
          </a:ln>
        </p:spPr>
      </p:sp>
      <p:sp>
        <p:nvSpPr>
          <p:cNvPr id="10" name="Early warning circle"/>
          <p:cNvSpPr/>
          <p:nvPr/>
        </p:nvSpPr>
        <p:spPr>
          <a:xfrm>
            <a:off x="7360920" y="3136392"/>
            <a:ext cx="548640" cy="548640"/>
          </a:xfrm>
          <a:prstGeom prst="ellipse">
            <a:avLst/>
          </a:prstGeom>
          <a:solidFill>
            <a:schemeClr val="accent1"/>
          </a:solidFill>
          <a:ln w="12700">
            <a:solidFill>
              <a:schemeClr val="accent1"/>
            </a:solidFill>
            <a:prstDash val="solid"/>
          </a:ln>
        </p:spPr>
      </p:sp>
      <p:pic>
        <p:nvPicPr>
          <p:cNvPr id="11" name="Early warning icon" descr="preencoded.png">    </p:cNvPr>
          <p:cNvPicPr>
            <a:picLocks noChangeAspect="1"/>
          </p:cNvPicPr>
          <p:nvPr/>
        </p:nvPicPr>
        <p:blipFill>
          <a:blip r:embed="rId3"/>
          <a:stretch>
            <a:fillRect/>
          </a:stretch>
        </p:blipFill>
        <p:spPr>
          <a:xfrm>
            <a:off x="7503566" y="3279038"/>
            <a:ext cx="263347" cy="263347"/>
          </a:xfrm>
          <a:prstGeom prst="rect">
            <a:avLst/>
          </a:prstGeom>
        </p:spPr>
      </p:pic>
      <p:sp>
        <p:nvSpPr>
          <p:cNvPr id="12" name="Early warning title"/>
          <p:cNvSpPr txBox="1"/>
          <p:nvPr/>
        </p:nvSpPr>
        <p:spPr>
          <a:xfrm>
            <a:off x="8046720" y="3108960"/>
            <a:ext cx="3383280" cy="594360"/>
          </a:xfrm>
          <a:prstGeom prst="rect">
            <a:avLst/>
          </a:prstGeom>
          <a:noFill/>
          <a:ln/>
        </p:spPr>
        <p:txBody>
          <a:bodyPr wrap="square" lIns="0" tIns="0" rIns="0" bIns="0" rtlCol="0" anchor="ctr"/>
          <a:lstStyle/>
          <a:p>
            <a:pPr indent="0" marL="0">
              <a:buNone/>
            </a:pPr>
            <a:r>
              <a:rPr lang="en-US" sz="1600" b="1" dirty="0">
                <a:solidFill>
                  <a:schemeClr val="tx1"/>
                </a:solidFill>
              </a:rPr>
              <a:t>Early warning</a:t>
            </a:r>
            <a:endParaRPr lang="en-US" sz="1600" dirty="0"/>
          </a:p>
        </p:txBody>
      </p:sp>
      <p:sp>
        <p:nvSpPr>
          <p:cNvPr id="13" name="Early warning text"/>
          <p:cNvSpPr txBox="1"/>
          <p:nvPr/>
        </p:nvSpPr>
        <p:spPr>
          <a:xfrm>
            <a:off x="7360920" y="3822192"/>
            <a:ext cx="4023360" cy="411480"/>
          </a:xfrm>
          <a:prstGeom prst="rect">
            <a:avLst/>
          </a:prstGeom>
          <a:noFill/>
          <a:ln/>
        </p:spPr>
        <p:txBody>
          <a:bodyPr wrap="square" lIns="0" tIns="0" rIns="0" bIns="0" rtlCol="0" anchor="t"/>
          <a:lstStyle/>
          <a:p>
            <a:pPr indent="0" marL="0">
              <a:buNone/>
            </a:pPr>
            <a:r>
              <a:rPr lang="en-US" sz="1400" dirty="0">
                <a:solidFill>
                  <a:schemeClr val="tx1"/>
                </a:solidFill>
              </a:rPr>
              <a:t>$100 monthly budget: email at 80% actual and 100% forecast; CloudWatch alarms for DB, nodes and ALB 5xx</a:t>
            </a:r>
            <a:endParaRPr lang="en-US" sz="1400" dirty="0"/>
          </a:p>
        </p:txBody>
      </p:sp>
      <p:sp>
        <p:nvSpPr>
          <p:cNvPr id="14" name="Pay only while working card"/>
          <p:cNvSpPr/>
          <p:nvPr/>
        </p:nvSpPr>
        <p:spPr>
          <a:xfrm>
            <a:off x="7132320" y="4535424"/>
            <a:ext cx="4480560" cy="1463040"/>
          </a:xfrm>
          <a:prstGeom prst="roundRect">
            <a:avLst>
              <a:gd name="adj" fmla="val 7500"/>
            </a:avLst>
          </a:prstGeom>
          <a:solidFill>
            <a:schemeClr val="bg2"/>
          </a:solidFill>
          <a:ln w="12700">
            <a:solidFill>
              <a:schemeClr val="bg2"/>
            </a:solidFill>
            <a:prstDash val="solid"/>
          </a:ln>
        </p:spPr>
      </p:sp>
      <p:sp>
        <p:nvSpPr>
          <p:cNvPr id="15" name="Pay only while working circle"/>
          <p:cNvSpPr/>
          <p:nvPr/>
        </p:nvSpPr>
        <p:spPr>
          <a:xfrm>
            <a:off x="7360920" y="4764024"/>
            <a:ext cx="548640" cy="548640"/>
          </a:xfrm>
          <a:prstGeom prst="ellipse">
            <a:avLst/>
          </a:prstGeom>
          <a:solidFill>
            <a:schemeClr val="accent2"/>
          </a:solidFill>
          <a:ln w="12700">
            <a:solidFill>
              <a:schemeClr val="accent2"/>
            </a:solidFill>
            <a:prstDash val="solid"/>
          </a:ln>
        </p:spPr>
      </p:sp>
      <p:pic>
        <p:nvPicPr>
          <p:cNvPr id="16" name="Pay only while working icon" descr="preencoded.png">    </p:cNvPr>
          <p:cNvPicPr>
            <a:picLocks noChangeAspect="1"/>
          </p:cNvPicPr>
          <p:nvPr/>
        </p:nvPicPr>
        <p:blipFill>
          <a:blip r:embed="rId4"/>
          <a:stretch>
            <a:fillRect/>
          </a:stretch>
        </p:blipFill>
        <p:spPr>
          <a:xfrm>
            <a:off x="7503566" y="4906670"/>
            <a:ext cx="263347" cy="263347"/>
          </a:xfrm>
          <a:prstGeom prst="rect">
            <a:avLst/>
          </a:prstGeom>
        </p:spPr>
      </p:pic>
      <p:sp>
        <p:nvSpPr>
          <p:cNvPr id="17" name="Pay only while working title"/>
          <p:cNvSpPr txBox="1"/>
          <p:nvPr/>
        </p:nvSpPr>
        <p:spPr>
          <a:xfrm>
            <a:off x="8046720" y="4736592"/>
            <a:ext cx="3383280" cy="594360"/>
          </a:xfrm>
          <a:prstGeom prst="rect">
            <a:avLst/>
          </a:prstGeom>
          <a:noFill/>
          <a:ln/>
        </p:spPr>
        <p:txBody>
          <a:bodyPr wrap="square" lIns="0" tIns="0" rIns="0" bIns="0" rtlCol="0" anchor="ctr"/>
          <a:lstStyle/>
          <a:p>
            <a:pPr indent="0" marL="0">
              <a:buNone/>
            </a:pPr>
            <a:r>
              <a:rPr lang="en-US" sz="1600" b="1" dirty="0">
                <a:solidFill>
                  <a:schemeClr val="tx1"/>
                </a:solidFill>
              </a:rPr>
              <a:t>Pay only while working</a:t>
            </a:r>
            <a:endParaRPr lang="en-US" sz="1600" dirty="0"/>
          </a:p>
        </p:txBody>
      </p:sp>
      <p:sp>
        <p:nvSpPr>
          <p:cNvPr id="18" name="Pay only while working text"/>
          <p:cNvSpPr txBox="1"/>
          <p:nvPr/>
        </p:nvSpPr>
        <p:spPr>
          <a:xfrm>
            <a:off x="7360920" y="5449824"/>
            <a:ext cx="4023360" cy="411480"/>
          </a:xfrm>
          <a:prstGeom prst="rect">
            <a:avLst/>
          </a:prstGeom>
          <a:noFill/>
          <a:ln/>
        </p:spPr>
        <p:txBody>
          <a:bodyPr wrap="square" lIns="0" tIns="0" rIns="0" bIns="0" rtlCol="0" anchor="t"/>
          <a:lstStyle/>
          <a:p>
            <a:pPr indent="0" marL="0">
              <a:buNone/>
            </a:pPr>
            <a:r>
              <a:rPr lang="en-US" sz="1400" dirty="0">
                <a:solidFill>
                  <a:schemeClr val="tx1"/>
                </a:solidFill>
              </a:rPr>
              <a:t>terraform destroy each evening; recreate in about 25 minutes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Running it day to day</a:t>
            </a:r>
            <a:endParaRPr lang="en-US" sz="3200" dirty="0"/>
          </a:p>
        </p:txBody>
      </p:sp>
      <p:sp>
        <p:nvSpPr>
          <p:cNvPr id="3" name="Create circle"/>
          <p:cNvSpPr/>
          <p:nvPr/>
        </p:nvSpPr>
        <p:spPr>
          <a:xfrm>
            <a:off x="1143000" y="1463040"/>
            <a:ext cx="914400" cy="914400"/>
          </a:xfrm>
          <a:prstGeom prst="ellipse">
            <a:avLst/>
          </a:prstGeom>
          <a:solidFill>
            <a:schemeClr val="accent1"/>
          </a:solidFill>
          <a:ln w="12700">
            <a:solidFill>
              <a:schemeClr val="accent1"/>
            </a:solidFill>
            <a:prstDash val="solid"/>
          </a:ln>
        </p:spPr>
      </p:sp>
      <p:pic>
        <p:nvPicPr>
          <p:cNvPr id="4" name="Create icon" descr="preencoded.png">    </p:cNvPr>
          <p:cNvPicPr>
            <a:picLocks noChangeAspect="1"/>
          </p:cNvPicPr>
          <p:nvPr/>
        </p:nvPicPr>
        <p:blipFill>
          <a:blip r:embed="rId1"/>
          <a:stretch>
            <a:fillRect/>
          </a:stretch>
        </p:blipFill>
        <p:spPr>
          <a:xfrm>
            <a:off x="1380744" y="1700784"/>
            <a:ext cx="438912" cy="438912"/>
          </a:xfrm>
          <a:prstGeom prst="rect">
            <a:avLst/>
          </a:prstGeom>
        </p:spPr>
      </p:pic>
      <p:sp>
        <p:nvSpPr>
          <p:cNvPr id="5" name="Create label"/>
          <p:cNvSpPr txBox="1"/>
          <p:nvPr/>
        </p:nvSpPr>
        <p:spPr>
          <a:xfrm>
            <a:off x="548640" y="2514600"/>
            <a:ext cx="2103120" cy="457200"/>
          </a:xfrm>
          <a:prstGeom prst="rect">
            <a:avLst/>
          </a:prstGeom>
          <a:noFill/>
          <a:ln/>
        </p:spPr>
        <p:txBody>
          <a:bodyPr wrap="square" lIns="0" tIns="0" rIns="0" bIns="0" rtlCol="0" anchor="ctr"/>
          <a:lstStyle/>
          <a:p>
            <a:pPr algn="ctr" indent="0" marL="0">
              <a:buNone/>
            </a:pPr>
            <a:r>
              <a:rPr lang="en-US" sz="1800" b="1" dirty="0">
                <a:solidFill>
                  <a:schemeClr val="tx1"/>
                </a:solidFill>
              </a:rPr>
              <a:t>Create</a:t>
            </a:r>
            <a:endParaRPr lang="en-US" sz="1800" dirty="0"/>
          </a:p>
        </p:txBody>
      </p:sp>
      <p:sp>
        <p:nvSpPr>
          <p:cNvPr id="6" name="Create text"/>
          <p:cNvSpPr txBox="1"/>
          <p:nvPr/>
        </p:nvSpPr>
        <p:spPr>
          <a:xfrm>
            <a:off x="548640" y="2971800"/>
            <a:ext cx="2103120" cy="822960"/>
          </a:xfrm>
          <a:prstGeom prst="rect">
            <a:avLst/>
          </a:prstGeom>
          <a:noFill/>
          <a:ln/>
        </p:spPr>
        <p:txBody>
          <a:bodyPr wrap="square" lIns="0" tIns="0" rIns="0" bIns="0" rtlCol="0" anchor="t"/>
          <a:lstStyle/>
          <a:p>
            <a:pPr algn="ctr" indent="0" marL="0">
              <a:buNone/>
            </a:pPr>
            <a:r>
              <a:rPr lang="en-US" sz="1300" dirty="0">
                <a:solidFill>
                  <a:schemeClr val="accent6"/>
                </a:solidFill>
              </a:rPr>
              <a:t>terraform apply</a:t>
            </a:r>
            <a:endParaRPr lang="en-US" sz="1300" dirty="0"/>
          </a:p>
          <a:p>
            <a:pPr algn="ctr" indent="0" marL="0">
              <a:buNone/>
            </a:pPr>
            <a:r>
              <a:rPr lang="en-US" sz="1300" dirty="0">
                <a:solidFill>
                  <a:schemeClr val="accent6"/>
                </a:solidFill>
              </a:rPr>
              <a:t>(envs/dev) ≈ 20 min</a:t>
            </a:r>
            <a:endParaRPr lang="en-US" sz="1300" dirty="0"/>
          </a:p>
        </p:txBody>
      </p:sp>
      <p:sp>
        <p:nvSpPr>
          <p:cNvPr id="7" name="ops arrow 0"/>
          <p:cNvSpPr/>
          <p:nvPr/>
        </p:nvSpPr>
        <p:spPr>
          <a:xfrm>
            <a:off x="2423160" y="1783080"/>
            <a:ext cx="320040" cy="274320"/>
          </a:xfrm>
          <a:prstGeom prst="rightArrow">
            <a:avLst/>
          </a:prstGeom>
          <a:solidFill>
            <a:schemeClr val="accent5"/>
          </a:solidFill>
          <a:ln w="12700">
            <a:solidFill>
              <a:schemeClr val="accent5"/>
            </a:solidFill>
            <a:prstDash val="solid"/>
          </a:ln>
        </p:spPr>
      </p:sp>
      <p:sp>
        <p:nvSpPr>
          <p:cNvPr id="8" name="Deploy circle"/>
          <p:cNvSpPr/>
          <p:nvPr/>
        </p:nvSpPr>
        <p:spPr>
          <a:xfrm>
            <a:off x="3383280" y="1463040"/>
            <a:ext cx="914400" cy="914400"/>
          </a:xfrm>
          <a:prstGeom prst="ellipse">
            <a:avLst/>
          </a:prstGeom>
          <a:solidFill>
            <a:schemeClr val="accent1"/>
          </a:solidFill>
          <a:ln w="12700">
            <a:solidFill>
              <a:schemeClr val="accent1"/>
            </a:solidFill>
            <a:prstDash val="solid"/>
          </a:ln>
        </p:spPr>
      </p:sp>
      <p:pic>
        <p:nvPicPr>
          <p:cNvPr id="9" name="Deploy icon" descr="preencoded.png">    </p:cNvPr>
          <p:cNvPicPr>
            <a:picLocks noChangeAspect="1"/>
          </p:cNvPicPr>
          <p:nvPr/>
        </p:nvPicPr>
        <p:blipFill>
          <a:blip r:embed="rId2"/>
          <a:stretch>
            <a:fillRect/>
          </a:stretch>
        </p:blipFill>
        <p:spPr>
          <a:xfrm>
            <a:off x="3621024" y="1700784"/>
            <a:ext cx="438912" cy="438912"/>
          </a:xfrm>
          <a:prstGeom prst="rect">
            <a:avLst/>
          </a:prstGeom>
        </p:spPr>
      </p:pic>
      <p:sp>
        <p:nvSpPr>
          <p:cNvPr id="10" name="Deploy label"/>
          <p:cNvSpPr txBox="1"/>
          <p:nvPr/>
        </p:nvSpPr>
        <p:spPr>
          <a:xfrm>
            <a:off x="2788920" y="2514600"/>
            <a:ext cx="2103120" cy="457200"/>
          </a:xfrm>
          <a:prstGeom prst="rect">
            <a:avLst/>
          </a:prstGeom>
          <a:noFill/>
          <a:ln/>
        </p:spPr>
        <p:txBody>
          <a:bodyPr wrap="square" lIns="0" tIns="0" rIns="0" bIns="0" rtlCol="0" anchor="ctr"/>
          <a:lstStyle/>
          <a:p>
            <a:pPr algn="ctr" indent="0" marL="0">
              <a:buNone/>
            </a:pPr>
            <a:r>
              <a:rPr lang="en-US" sz="1800" b="1" dirty="0">
                <a:solidFill>
                  <a:schemeClr val="tx1"/>
                </a:solidFill>
              </a:rPr>
              <a:t>Deploy</a:t>
            </a:r>
            <a:endParaRPr lang="en-US" sz="1800" dirty="0"/>
          </a:p>
        </p:txBody>
      </p:sp>
      <p:sp>
        <p:nvSpPr>
          <p:cNvPr id="11" name="Deploy text"/>
          <p:cNvSpPr txBox="1"/>
          <p:nvPr/>
        </p:nvSpPr>
        <p:spPr>
          <a:xfrm>
            <a:off x="2788920" y="2971800"/>
            <a:ext cx="2103120" cy="822960"/>
          </a:xfrm>
          <a:prstGeom prst="rect">
            <a:avLst/>
          </a:prstGeom>
          <a:noFill/>
          <a:ln/>
        </p:spPr>
        <p:txBody>
          <a:bodyPr wrap="square" lIns="0" tIns="0" rIns="0" bIns="0" rtlCol="0" anchor="t"/>
          <a:lstStyle/>
          <a:p>
            <a:pPr algn="ctr" indent="0" marL="0">
              <a:buNone/>
            </a:pPr>
            <a:r>
              <a:rPr lang="en-US" sz="1300" dirty="0">
                <a:solidFill>
                  <a:schemeClr val="accent6"/>
                </a:solidFill>
              </a:rPr>
              <a:t>git push → Jenkins</a:t>
            </a:r>
            <a:endParaRPr lang="en-US" sz="1300" dirty="0"/>
          </a:p>
          <a:p>
            <a:pPr algn="ctr" indent="0" marL="0">
              <a:buNone/>
            </a:pPr>
            <a:r>
              <a:rPr lang="en-US" sz="1300" dirty="0">
                <a:solidFill>
                  <a:schemeClr val="accent6"/>
                </a:solidFill>
              </a:rPr>
              <a:t>→ approve</a:t>
            </a:r>
            <a:endParaRPr lang="en-US" sz="1300" dirty="0"/>
          </a:p>
        </p:txBody>
      </p:sp>
      <p:sp>
        <p:nvSpPr>
          <p:cNvPr id="12" name="ops arrow 1"/>
          <p:cNvSpPr/>
          <p:nvPr/>
        </p:nvSpPr>
        <p:spPr>
          <a:xfrm>
            <a:off x="4663440" y="1783080"/>
            <a:ext cx="320040" cy="274320"/>
          </a:xfrm>
          <a:prstGeom prst="rightArrow">
            <a:avLst/>
          </a:prstGeom>
          <a:solidFill>
            <a:schemeClr val="accent5"/>
          </a:solidFill>
          <a:ln w="12700">
            <a:solidFill>
              <a:schemeClr val="accent5"/>
            </a:solidFill>
            <a:prstDash val="solid"/>
          </a:ln>
        </p:spPr>
      </p:sp>
      <p:sp>
        <p:nvSpPr>
          <p:cNvPr id="13" name="Verify circle"/>
          <p:cNvSpPr/>
          <p:nvPr/>
        </p:nvSpPr>
        <p:spPr>
          <a:xfrm>
            <a:off x="5623560" y="1463040"/>
            <a:ext cx="914400" cy="914400"/>
          </a:xfrm>
          <a:prstGeom prst="ellipse">
            <a:avLst/>
          </a:prstGeom>
          <a:solidFill>
            <a:schemeClr val="accent1"/>
          </a:solidFill>
          <a:ln w="12700">
            <a:solidFill>
              <a:schemeClr val="accent1"/>
            </a:solidFill>
            <a:prstDash val="solid"/>
          </a:ln>
        </p:spPr>
      </p:sp>
      <p:pic>
        <p:nvPicPr>
          <p:cNvPr id="14" name="Verify icon" descr="preencoded.png">    </p:cNvPr>
          <p:cNvPicPr>
            <a:picLocks noChangeAspect="1"/>
          </p:cNvPicPr>
          <p:nvPr/>
        </p:nvPicPr>
        <p:blipFill>
          <a:blip r:embed="rId3"/>
          <a:stretch>
            <a:fillRect/>
          </a:stretch>
        </p:blipFill>
        <p:spPr>
          <a:xfrm>
            <a:off x="5861304" y="1700784"/>
            <a:ext cx="438912" cy="438912"/>
          </a:xfrm>
          <a:prstGeom prst="rect">
            <a:avLst/>
          </a:prstGeom>
        </p:spPr>
      </p:pic>
      <p:sp>
        <p:nvSpPr>
          <p:cNvPr id="15" name="Verify label"/>
          <p:cNvSpPr txBox="1"/>
          <p:nvPr/>
        </p:nvSpPr>
        <p:spPr>
          <a:xfrm>
            <a:off x="5029200" y="2514600"/>
            <a:ext cx="2103120" cy="457200"/>
          </a:xfrm>
          <a:prstGeom prst="rect">
            <a:avLst/>
          </a:prstGeom>
          <a:noFill/>
          <a:ln/>
        </p:spPr>
        <p:txBody>
          <a:bodyPr wrap="square" lIns="0" tIns="0" rIns="0" bIns="0" rtlCol="0" anchor="ctr"/>
          <a:lstStyle/>
          <a:p>
            <a:pPr algn="ctr" indent="0" marL="0">
              <a:buNone/>
            </a:pPr>
            <a:r>
              <a:rPr lang="en-US" sz="1800" b="1" dirty="0">
                <a:solidFill>
                  <a:schemeClr val="tx1"/>
                </a:solidFill>
              </a:rPr>
              <a:t>Verify</a:t>
            </a:r>
            <a:endParaRPr lang="en-US" sz="1800" dirty="0"/>
          </a:p>
        </p:txBody>
      </p:sp>
      <p:sp>
        <p:nvSpPr>
          <p:cNvPr id="16" name="Verify text"/>
          <p:cNvSpPr txBox="1"/>
          <p:nvPr/>
        </p:nvSpPr>
        <p:spPr>
          <a:xfrm>
            <a:off x="5029200" y="2971800"/>
            <a:ext cx="2103120" cy="822960"/>
          </a:xfrm>
          <a:prstGeom prst="rect">
            <a:avLst/>
          </a:prstGeom>
          <a:noFill/>
          <a:ln/>
        </p:spPr>
        <p:txBody>
          <a:bodyPr wrap="square" lIns="0" tIns="0" rIns="0" bIns="0" rtlCol="0" anchor="t"/>
          <a:lstStyle/>
          <a:p>
            <a:pPr algn="ctr" indent="0" marL="0">
              <a:buNone/>
            </a:pPr>
            <a:r>
              <a:rPr lang="en-US" sz="1300" dirty="0">
                <a:solidFill>
                  <a:schemeClr val="accent6"/>
                </a:solidFill>
              </a:rPr>
              <a:t>kubectl, /api/health,</a:t>
            </a:r>
            <a:endParaRPr lang="en-US" sz="1300" dirty="0"/>
          </a:p>
          <a:p>
            <a:pPr algn="ctr" indent="0" marL="0">
              <a:buNone/>
            </a:pPr>
            <a:r>
              <a:rPr lang="en-US" sz="1300" dirty="0">
                <a:solidFill>
                  <a:schemeClr val="accent6"/>
                </a:solidFill>
              </a:rPr>
              <a:t>CloudWatch</a:t>
            </a:r>
            <a:endParaRPr lang="en-US" sz="1300" dirty="0"/>
          </a:p>
        </p:txBody>
      </p:sp>
      <p:sp>
        <p:nvSpPr>
          <p:cNvPr id="17" name="ops arrow 2"/>
          <p:cNvSpPr/>
          <p:nvPr/>
        </p:nvSpPr>
        <p:spPr>
          <a:xfrm>
            <a:off x="6903720" y="1783080"/>
            <a:ext cx="320040" cy="274320"/>
          </a:xfrm>
          <a:prstGeom prst="rightArrow">
            <a:avLst/>
          </a:prstGeom>
          <a:solidFill>
            <a:schemeClr val="accent5"/>
          </a:solidFill>
          <a:ln w="12700">
            <a:solidFill>
              <a:schemeClr val="accent5"/>
            </a:solidFill>
            <a:prstDash val="solid"/>
          </a:ln>
        </p:spPr>
      </p:sp>
      <p:sp>
        <p:nvSpPr>
          <p:cNvPr id="18" name="Roll back circle"/>
          <p:cNvSpPr/>
          <p:nvPr/>
        </p:nvSpPr>
        <p:spPr>
          <a:xfrm>
            <a:off x="7863840" y="1463040"/>
            <a:ext cx="914400" cy="914400"/>
          </a:xfrm>
          <a:prstGeom prst="ellipse">
            <a:avLst/>
          </a:prstGeom>
          <a:solidFill>
            <a:schemeClr val="accent2"/>
          </a:solidFill>
          <a:ln w="12700">
            <a:solidFill>
              <a:schemeClr val="accent2"/>
            </a:solidFill>
            <a:prstDash val="solid"/>
          </a:ln>
        </p:spPr>
      </p:sp>
      <p:pic>
        <p:nvPicPr>
          <p:cNvPr id="19" name="Roll back icon" descr="preencoded.png">    </p:cNvPr>
          <p:cNvPicPr>
            <a:picLocks noChangeAspect="1"/>
          </p:cNvPicPr>
          <p:nvPr/>
        </p:nvPicPr>
        <p:blipFill>
          <a:blip r:embed="rId4"/>
          <a:stretch>
            <a:fillRect/>
          </a:stretch>
        </p:blipFill>
        <p:spPr>
          <a:xfrm>
            <a:off x="8101584" y="1700784"/>
            <a:ext cx="438912" cy="438912"/>
          </a:xfrm>
          <a:prstGeom prst="rect">
            <a:avLst/>
          </a:prstGeom>
        </p:spPr>
      </p:pic>
      <p:sp>
        <p:nvSpPr>
          <p:cNvPr id="20" name="Roll back label"/>
          <p:cNvSpPr txBox="1"/>
          <p:nvPr/>
        </p:nvSpPr>
        <p:spPr>
          <a:xfrm>
            <a:off x="7269480" y="2514600"/>
            <a:ext cx="2103120" cy="457200"/>
          </a:xfrm>
          <a:prstGeom prst="rect">
            <a:avLst/>
          </a:prstGeom>
          <a:noFill/>
          <a:ln/>
        </p:spPr>
        <p:txBody>
          <a:bodyPr wrap="square" lIns="0" tIns="0" rIns="0" bIns="0" rtlCol="0" anchor="ctr"/>
          <a:lstStyle/>
          <a:p>
            <a:pPr algn="ctr" indent="0" marL="0">
              <a:buNone/>
            </a:pPr>
            <a:r>
              <a:rPr lang="en-US" sz="1800" b="1" dirty="0">
                <a:solidFill>
                  <a:schemeClr val="tx1"/>
                </a:solidFill>
              </a:rPr>
              <a:t>Roll back</a:t>
            </a:r>
            <a:endParaRPr lang="en-US" sz="1800" dirty="0"/>
          </a:p>
        </p:txBody>
      </p:sp>
      <p:sp>
        <p:nvSpPr>
          <p:cNvPr id="21" name="Roll back text"/>
          <p:cNvSpPr txBox="1"/>
          <p:nvPr/>
        </p:nvSpPr>
        <p:spPr>
          <a:xfrm>
            <a:off x="7269480" y="2971800"/>
            <a:ext cx="2103120" cy="822960"/>
          </a:xfrm>
          <a:prstGeom prst="rect">
            <a:avLst/>
          </a:prstGeom>
          <a:noFill/>
          <a:ln/>
        </p:spPr>
        <p:txBody>
          <a:bodyPr wrap="square" lIns="0" tIns="0" rIns="0" bIns="0" rtlCol="0" anchor="t"/>
          <a:lstStyle/>
          <a:p>
            <a:pPr algn="ctr" indent="0" marL="0">
              <a:buNone/>
            </a:pPr>
            <a:r>
              <a:rPr lang="en-US" sz="1300" dirty="0">
                <a:solidFill>
                  <a:schemeClr val="accent6"/>
                </a:solidFill>
              </a:rPr>
              <a:t>helm rollback</a:t>
            </a:r>
            <a:endParaRPr lang="en-US" sz="1300" dirty="0"/>
          </a:p>
          <a:p>
            <a:pPr algn="ctr" indent="0" marL="0">
              <a:buNone/>
            </a:pPr>
            <a:r>
              <a:rPr lang="en-US" sz="1300" dirty="0">
                <a:solidFill>
                  <a:schemeClr val="accent6"/>
                </a:solidFill>
              </a:rPr>
              <a:t>peoplepulse &lt;rev&gt;</a:t>
            </a:r>
            <a:endParaRPr lang="en-US" sz="1300" dirty="0"/>
          </a:p>
        </p:txBody>
      </p:sp>
      <p:sp>
        <p:nvSpPr>
          <p:cNvPr id="22" name="ops arrow 3"/>
          <p:cNvSpPr/>
          <p:nvPr/>
        </p:nvSpPr>
        <p:spPr>
          <a:xfrm>
            <a:off x="9144000" y="1783080"/>
            <a:ext cx="320040" cy="274320"/>
          </a:xfrm>
          <a:prstGeom prst="rightArrow">
            <a:avLst/>
          </a:prstGeom>
          <a:solidFill>
            <a:schemeClr val="accent5"/>
          </a:solidFill>
          <a:ln w="12700">
            <a:solidFill>
              <a:schemeClr val="accent5"/>
            </a:solidFill>
            <a:prstDash val="solid"/>
          </a:ln>
        </p:spPr>
      </p:sp>
      <p:sp>
        <p:nvSpPr>
          <p:cNvPr id="23" name="Destroy circle"/>
          <p:cNvSpPr/>
          <p:nvPr/>
        </p:nvSpPr>
        <p:spPr>
          <a:xfrm>
            <a:off x="10104120" y="1463040"/>
            <a:ext cx="914400" cy="914400"/>
          </a:xfrm>
          <a:prstGeom prst="ellipse">
            <a:avLst/>
          </a:prstGeom>
          <a:solidFill>
            <a:schemeClr val="accent4"/>
          </a:solidFill>
          <a:ln w="12700">
            <a:solidFill>
              <a:schemeClr val="accent4"/>
            </a:solidFill>
            <a:prstDash val="solid"/>
          </a:ln>
        </p:spPr>
      </p:sp>
      <p:pic>
        <p:nvPicPr>
          <p:cNvPr id="24" name="Destroy icon" descr="preencoded.png">    </p:cNvPr>
          <p:cNvPicPr>
            <a:picLocks noChangeAspect="1"/>
          </p:cNvPicPr>
          <p:nvPr/>
        </p:nvPicPr>
        <p:blipFill>
          <a:blip r:embed="rId5"/>
          <a:stretch>
            <a:fillRect/>
          </a:stretch>
        </p:blipFill>
        <p:spPr>
          <a:xfrm>
            <a:off x="10341864" y="1700784"/>
            <a:ext cx="438912" cy="438912"/>
          </a:xfrm>
          <a:prstGeom prst="rect">
            <a:avLst/>
          </a:prstGeom>
        </p:spPr>
      </p:pic>
      <p:sp>
        <p:nvSpPr>
          <p:cNvPr id="25" name="Destroy label"/>
          <p:cNvSpPr txBox="1"/>
          <p:nvPr/>
        </p:nvSpPr>
        <p:spPr>
          <a:xfrm>
            <a:off x="9509760" y="2514600"/>
            <a:ext cx="2103120" cy="457200"/>
          </a:xfrm>
          <a:prstGeom prst="rect">
            <a:avLst/>
          </a:prstGeom>
          <a:noFill/>
          <a:ln/>
        </p:spPr>
        <p:txBody>
          <a:bodyPr wrap="square" lIns="0" tIns="0" rIns="0" bIns="0" rtlCol="0" anchor="ctr"/>
          <a:lstStyle/>
          <a:p>
            <a:pPr algn="ctr" indent="0" marL="0">
              <a:buNone/>
            </a:pPr>
            <a:r>
              <a:rPr lang="en-US" sz="1800" b="1" dirty="0">
                <a:solidFill>
                  <a:schemeClr val="tx1"/>
                </a:solidFill>
              </a:rPr>
              <a:t>Destroy</a:t>
            </a:r>
            <a:endParaRPr lang="en-US" sz="1800" dirty="0"/>
          </a:p>
        </p:txBody>
      </p:sp>
      <p:sp>
        <p:nvSpPr>
          <p:cNvPr id="26" name="Destroy text"/>
          <p:cNvSpPr txBox="1"/>
          <p:nvPr/>
        </p:nvSpPr>
        <p:spPr>
          <a:xfrm>
            <a:off x="9509760" y="2971800"/>
            <a:ext cx="2103120" cy="822960"/>
          </a:xfrm>
          <a:prstGeom prst="rect">
            <a:avLst/>
          </a:prstGeom>
          <a:noFill/>
          <a:ln/>
        </p:spPr>
        <p:txBody>
          <a:bodyPr wrap="square" lIns="0" tIns="0" rIns="0" bIns="0" rtlCol="0" anchor="t"/>
          <a:lstStyle/>
          <a:p>
            <a:pPr algn="ctr" indent="0" marL="0">
              <a:buNone/>
            </a:pPr>
            <a:r>
              <a:rPr lang="en-US" sz="1300" dirty="0">
                <a:solidFill>
                  <a:schemeClr val="accent6"/>
                </a:solidFill>
              </a:rPr>
              <a:t>helm uninstall →</a:t>
            </a:r>
            <a:endParaRPr lang="en-US" sz="1300" dirty="0"/>
          </a:p>
          <a:p>
            <a:pPr algn="ctr" indent="0" marL="0">
              <a:buNone/>
            </a:pPr>
            <a:r>
              <a:rPr lang="en-US" sz="1300" dirty="0">
                <a:solidFill>
                  <a:schemeClr val="accent6"/>
                </a:solidFill>
              </a:rPr>
              <a:t>terraform destroy</a:t>
            </a:r>
            <a:endParaRPr lang="en-US" sz="1300" dirty="0"/>
          </a:p>
        </p:txBody>
      </p:sp>
      <p:sp>
        <p:nvSpPr>
          <p:cNvPr id="27" name="commands box"/>
          <p:cNvSpPr/>
          <p:nvPr/>
        </p:nvSpPr>
        <p:spPr>
          <a:xfrm>
            <a:off x="548640" y="4160520"/>
            <a:ext cx="11064240" cy="1828800"/>
          </a:xfrm>
          <a:prstGeom prst="roundRect">
            <a:avLst>
              <a:gd name="adj" fmla="val 6000"/>
            </a:avLst>
          </a:prstGeom>
          <a:solidFill>
            <a:schemeClr val="bg2"/>
          </a:solidFill>
          <a:ln w="12700">
            <a:solidFill>
              <a:schemeClr val="bg2"/>
            </a:solidFill>
            <a:prstDash val="solid"/>
          </a:ln>
        </p:spPr>
      </p:sp>
      <p:sp>
        <p:nvSpPr>
          <p:cNvPr id="28" name="commands"/>
          <p:cNvSpPr txBox="1"/>
          <p:nvPr/>
        </p:nvSpPr>
        <p:spPr>
          <a:xfrm>
            <a:off x="822960" y="4251960"/>
            <a:ext cx="10515600" cy="164592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export AWS_PROFILE=PC1</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aws eks update-kubeconfig --name peoplepulse-dev --region us-west-1</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kubectl -n peoplepulse-dev get pods,ingress</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helm -n peoplepulse-dev history peoplepulse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Local lab and cloud, side by side</a:t>
            </a:r>
            <a:endParaRPr lang="en-US" sz="3200" dirty="0"/>
          </a:p>
        </p:txBody>
      </p:sp>
      <p:graphicFrame>
        <p:nvGraphicFramePr>
          <p:cNvPr id="15" name="comparison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4343400"/>
                <a:gridCol w="4343400"/>
              </a:tblGrid>
              <a:tr h="548640">
                <a:tc>
                  <a:txBody>
                    <a:bodyPr/>
                    <a:lstStyle/>
                    <a:p>
                      <a:pPr indent="0" marL="0">
                        <a:buNone/>
                      </a:pP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Local (Minikube)</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Cloud (AWS)</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tx1"/>
                    </a:solidFill>
                  </a:tcPr>
                </a:tc>
              </a:tr>
              <a:tr h="548640">
                <a:tc>
                  <a:txBody>
                    <a:bodyPr/>
                    <a:lstStyle/>
                    <a:p>
                      <a:pPr indent="0" marL="0">
                        <a:buNone/>
                      </a:pPr>
                      <a:r>
                        <a:rPr lang="en-US" sz="1500" dirty="0">
                          <a:solidFill>
                            <a:schemeClr val="tx1"/>
                          </a:solidFill>
                        </a:rPr>
                        <a:t>Pipeline</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Jenkinsfile</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Jenkinsfile.aws</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Image registry</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Docker Hub</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Amazon ECR (immutable)</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Cluster</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Minikube on Docker Desktop</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Amazon EKS, Graviton nodes</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Database</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PostgreSQL StatefulSet</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Amazon RDS PostgreSQL 16</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Entry point</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NodePort</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Application Load Balancer</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Secrets</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Jenkins credential</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AWS Secrets Manager</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Cost</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Free</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 $7 per day while running</a:t>
                      </a:r>
                      <a:endParaRPr lang="en-US" sz="15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Problems hit and how they were solved</a:t>
            </a:r>
            <a:endParaRPr lang="en-US" sz="3200" dirty="0"/>
          </a:p>
        </p:txBody>
      </p:sp>
      <p:graphicFrame>
        <p:nvGraphicFramePr>
          <p:cNvPr id="16" name="challenge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840480"/>
                <a:gridCol w="3474720"/>
                <a:gridCol w="3749040"/>
              </a:tblGrid>
              <a:tr h="457200">
                <a:tc>
                  <a:txBody>
                    <a:bodyPr/>
                    <a:lstStyle/>
                    <a:p>
                      <a:pPr indent="0" marL="0">
                        <a:buNone/>
                      </a:pPr>
                      <a:r>
                        <a:rPr lang="en-US" sz="1400" b="1" dirty="0">
                          <a:solidFill>
                            <a:schemeClr val="bg1"/>
                          </a:solidFill>
                        </a:rPr>
                        <a:t>Problem</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Cause</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Fix</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tx1"/>
                    </a:solidFill>
                  </a:tcPr>
                </a:tc>
              </a:tr>
              <a:tr h="713232">
                <a:tc>
                  <a:txBody>
                    <a:bodyPr/>
                    <a:lstStyle/>
                    <a:p>
                      <a:pPr indent="0" marL="0">
                        <a:buNone/>
                      </a:pPr>
                      <a:r>
                        <a:rPr lang="en-US" sz="1400" dirty="0">
                          <a:solidFill>
                            <a:schemeClr val="tx1"/>
                          </a:solidFill>
                        </a:rPr>
                        <a:t>Terraform plan failed: for_each with unknown values</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Security group IDs only exist after apply</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Map with fixed keys: { eks_cluster = sg-id }</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713232">
                <a:tc>
                  <a:txBody>
                    <a:bodyPr/>
                    <a:lstStyle/>
                    <a:p>
                      <a:pPr indent="0" marL="0">
                        <a:buNone/>
                      </a:pPr>
                      <a:r>
                        <a:rPr lang="en-US" sz="1400" dirty="0">
                          <a:solidFill>
                            <a:schemeClr val="tx1"/>
                          </a:solidFill>
                        </a:rPr>
                        <a:t>Replicas crashed on first start</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Two pods raced to create the table</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Schema + seed inside a Postgres advisory lock</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713232">
                <a:tc>
                  <a:txBody>
                    <a:bodyPr/>
                    <a:lstStyle/>
                    <a:p>
                      <a:pPr indent="0" marL="0">
                        <a:buNone/>
                      </a:pPr>
                      <a:r>
                        <a:rPr lang="en-US" sz="1400" dirty="0">
                          <a:solidFill>
                            <a:schemeClr val="tx1"/>
                          </a:solidFill>
                        </a:rPr>
                        <a:t>Commands hit the wrong AWS account</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Two profiles plus a stray default</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Profile PC1, default removed, account lock in Terraform</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713232">
                <a:tc>
                  <a:txBody>
                    <a:bodyPr/>
                    <a:lstStyle/>
                    <a:p>
                      <a:pPr indent="0" marL="0">
                        <a:buNone/>
                      </a:pPr>
                      <a:r>
                        <a:rPr lang="en-US" sz="1400" dirty="0">
                          <a:solidFill>
                            <a:schemeClr val="tx1"/>
                          </a:solidFill>
                        </a:rPr>
                        <a:t>Jenkins could not reach Docker</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Socket owned by root group</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Container started with --group-add 0</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r h="713232">
                <a:tc>
                  <a:txBody>
                    <a:bodyPr/>
                    <a:lstStyle/>
                    <a:p>
                      <a:pPr indent="0" marL="0">
                        <a:buNone/>
                      </a:pPr>
                      <a:r>
                        <a:rPr lang="en-US" sz="1400" dirty="0">
                          <a:solidFill>
                            <a:schemeClr val="tx1"/>
                          </a:solidFill>
                        </a:rPr>
                        <a:t>nginx failed to render config</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Template permissions in image</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COPY --chmod=0755 in the Dockerfile</a:t>
                      </a:r>
                      <a:endParaRPr lang="en-US" sz="1400" dirty="0"/>
                    </a:p>
                  </a:txBody>
                  <a:tcPr marL="91440" marR="91440" marT="91440" marB="91440" anchor="ctr">
                    <a:lnL w="9525" cap="flat" cmpd="sng" algn="ctr">
                      <a:solidFill>
                        <a:srgbClr val="7FB2B3"/>
                      </a:solidFill>
                      <a:prstDash val="solid"/>
                      <a:round/>
                      <a:headEnd type="none" w="med" len="med"/>
                      <a:tailEnd type="none" w="med" len="med"/>
                    </a:lnL>
                    <a:lnR w="9525" cap="flat" cmpd="sng" algn="ctr">
                      <a:solidFill>
                        <a:srgbClr val="7FB2B3"/>
                      </a:solidFill>
                      <a:prstDash val="solid"/>
                      <a:round/>
                      <a:headEnd type="none" w="med" len="med"/>
                      <a:tailEnd type="none" w="med" len="med"/>
                    </a:lnR>
                    <a:lnT w="9525" cap="flat" cmpd="sng" algn="ctr">
                      <a:solidFill>
                        <a:srgbClr val="7FB2B3"/>
                      </a:solidFill>
                      <a:prstDash val="solid"/>
                      <a:round/>
                      <a:headEnd type="none" w="med" len="med"/>
                      <a:tailEnd type="none" w="med" len="med"/>
                    </a:lnT>
                    <a:lnB w="9525" cap="flat" cmpd="sng" algn="ctr">
                      <a:solidFill>
                        <a:srgbClr val="7FB2B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comes next</a:t>
            </a:r>
            <a:endParaRPr lang="en-US" sz="3200" dirty="0"/>
          </a:p>
        </p:txBody>
      </p:sp>
      <p:sp>
        <p:nvSpPr>
          <p:cNvPr id="3" name="HTTPS on a real domain card"/>
          <p:cNvSpPr/>
          <p:nvPr/>
        </p:nvSpPr>
        <p:spPr>
          <a:xfrm>
            <a:off x="548640" y="1371600"/>
            <a:ext cx="3474720" cy="2103120"/>
          </a:xfrm>
          <a:prstGeom prst="roundRect">
            <a:avLst>
              <a:gd name="adj" fmla="val 5217"/>
            </a:avLst>
          </a:prstGeom>
          <a:solidFill>
            <a:schemeClr val="bg2"/>
          </a:solidFill>
          <a:ln w="12700">
            <a:solidFill>
              <a:schemeClr val="bg2"/>
            </a:solidFill>
            <a:prstDash val="solid"/>
          </a:ln>
        </p:spPr>
      </p:sp>
      <p:sp>
        <p:nvSpPr>
          <p:cNvPr id="4" name="HTTPS on a real domain circle"/>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5" name="HTTPS on a real domain icon" descr="preencoded.png">    </p:cNvPr>
          <p:cNvPicPr>
            <a:picLocks noChangeAspect="1"/>
          </p:cNvPicPr>
          <p:nvPr/>
        </p:nvPicPr>
        <p:blipFill>
          <a:blip r:embed="rId1"/>
          <a:stretch>
            <a:fillRect/>
          </a:stretch>
        </p:blipFill>
        <p:spPr>
          <a:xfrm>
            <a:off x="919886" y="1742846"/>
            <a:ext cx="263347" cy="263347"/>
          </a:xfrm>
          <a:prstGeom prst="rect">
            <a:avLst/>
          </a:prstGeom>
        </p:spPr>
      </p:pic>
      <p:sp>
        <p:nvSpPr>
          <p:cNvPr id="6" name="HTTPS on a real domain title"/>
          <p:cNvSpPr txBox="1"/>
          <p:nvPr/>
        </p:nvSpPr>
        <p:spPr>
          <a:xfrm>
            <a:off x="1463040" y="157276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HTTPS on a real domain</a:t>
            </a:r>
            <a:endParaRPr lang="en-US" sz="1600" dirty="0"/>
          </a:p>
        </p:txBody>
      </p:sp>
      <p:sp>
        <p:nvSpPr>
          <p:cNvPr id="7" name="HTTPS on a real domain text"/>
          <p:cNvSpPr txBox="1"/>
          <p:nvPr/>
        </p:nvSpPr>
        <p:spPr>
          <a:xfrm>
            <a:off x="777240" y="2286000"/>
            <a:ext cx="3017520" cy="1051560"/>
          </a:xfrm>
          <a:prstGeom prst="rect">
            <a:avLst/>
          </a:prstGeom>
          <a:noFill/>
          <a:ln/>
        </p:spPr>
        <p:txBody>
          <a:bodyPr wrap="square" lIns="0" tIns="0" rIns="0" bIns="0" rtlCol="0" anchor="t"/>
          <a:lstStyle/>
          <a:p>
            <a:pPr indent="0" marL="0">
              <a:buNone/>
            </a:pPr>
            <a:r>
              <a:rPr lang="en-US" sz="1400" dirty="0">
                <a:solidFill>
                  <a:schemeClr val="tx1"/>
                </a:solidFill>
              </a:rPr>
              <a:t>Route 53 + ACM already in Terraform; set domain_name</a:t>
            </a:r>
            <a:endParaRPr lang="en-US" sz="1400" dirty="0"/>
          </a:p>
        </p:txBody>
      </p:sp>
      <p:sp>
        <p:nvSpPr>
          <p:cNvPr id="8" name="UAT and PROD card"/>
          <p:cNvSpPr/>
          <p:nvPr/>
        </p:nvSpPr>
        <p:spPr>
          <a:xfrm>
            <a:off x="4297680" y="1371600"/>
            <a:ext cx="3474720" cy="2103120"/>
          </a:xfrm>
          <a:prstGeom prst="roundRect">
            <a:avLst>
              <a:gd name="adj" fmla="val 5217"/>
            </a:avLst>
          </a:prstGeom>
          <a:solidFill>
            <a:schemeClr val="bg2"/>
          </a:solidFill>
          <a:ln w="12700">
            <a:solidFill>
              <a:schemeClr val="bg2"/>
            </a:solidFill>
            <a:prstDash val="solid"/>
          </a:ln>
        </p:spPr>
      </p:sp>
      <p:sp>
        <p:nvSpPr>
          <p:cNvPr id="9" name="UAT and PROD circle"/>
          <p:cNvSpPr/>
          <p:nvPr/>
        </p:nvSpPr>
        <p:spPr>
          <a:xfrm>
            <a:off x="4526280" y="1600200"/>
            <a:ext cx="548640" cy="548640"/>
          </a:xfrm>
          <a:prstGeom prst="ellipse">
            <a:avLst/>
          </a:prstGeom>
          <a:solidFill>
            <a:schemeClr val="accent2"/>
          </a:solidFill>
          <a:ln w="12700">
            <a:solidFill>
              <a:schemeClr val="accent2"/>
            </a:solidFill>
            <a:prstDash val="solid"/>
          </a:ln>
        </p:spPr>
      </p:sp>
      <p:pic>
        <p:nvPicPr>
          <p:cNvPr id="10" name="UAT and PROD icon" descr="preencoded.png">    </p:cNvPr>
          <p:cNvPicPr>
            <a:picLocks noChangeAspect="1"/>
          </p:cNvPicPr>
          <p:nvPr/>
        </p:nvPicPr>
        <p:blipFill>
          <a:blip r:embed="rId2"/>
          <a:stretch>
            <a:fillRect/>
          </a:stretch>
        </p:blipFill>
        <p:spPr>
          <a:xfrm>
            <a:off x="4668926" y="1742846"/>
            <a:ext cx="263347" cy="263347"/>
          </a:xfrm>
          <a:prstGeom prst="rect">
            <a:avLst/>
          </a:prstGeom>
        </p:spPr>
      </p:pic>
      <p:sp>
        <p:nvSpPr>
          <p:cNvPr id="11" name="UAT and PROD title"/>
          <p:cNvSpPr txBox="1"/>
          <p:nvPr/>
        </p:nvSpPr>
        <p:spPr>
          <a:xfrm>
            <a:off x="5212080" y="157276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UAT and PROD</a:t>
            </a:r>
            <a:endParaRPr lang="en-US" sz="1600" dirty="0"/>
          </a:p>
        </p:txBody>
      </p:sp>
      <p:sp>
        <p:nvSpPr>
          <p:cNvPr id="12" name="UAT and PROD text"/>
          <p:cNvSpPr txBox="1"/>
          <p:nvPr/>
        </p:nvSpPr>
        <p:spPr>
          <a:xfrm>
            <a:off x="4526280" y="2286000"/>
            <a:ext cx="3017520" cy="1051560"/>
          </a:xfrm>
          <a:prstGeom prst="rect">
            <a:avLst/>
          </a:prstGeom>
          <a:noFill/>
          <a:ln/>
        </p:spPr>
        <p:txBody>
          <a:bodyPr wrap="square" lIns="0" tIns="0" rIns="0" bIns="0" rtlCol="0" anchor="t"/>
          <a:lstStyle/>
          <a:p>
            <a:pPr indent="0" marL="0">
              <a:buNone/>
            </a:pPr>
            <a:r>
              <a:rPr lang="en-US" sz="1400" dirty="0">
                <a:solidFill>
                  <a:schemeClr val="tx1"/>
                </a:solidFill>
              </a:rPr>
              <a:t>Copy envs/dev; multi-AZ RDS, NAT per zone, deletion protection</a:t>
            </a:r>
            <a:endParaRPr lang="en-US" sz="1400" dirty="0"/>
          </a:p>
        </p:txBody>
      </p:sp>
      <p:sp>
        <p:nvSpPr>
          <p:cNvPr id="13" name="GitOps card"/>
          <p:cNvSpPr/>
          <p:nvPr/>
        </p:nvSpPr>
        <p:spPr>
          <a:xfrm>
            <a:off x="8046720" y="1371600"/>
            <a:ext cx="3474720" cy="2103120"/>
          </a:xfrm>
          <a:prstGeom prst="roundRect">
            <a:avLst>
              <a:gd name="adj" fmla="val 5217"/>
            </a:avLst>
          </a:prstGeom>
          <a:solidFill>
            <a:schemeClr val="bg2"/>
          </a:solidFill>
          <a:ln w="12700">
            <a:solidFill>
              <a:schemeClr val="bg2"/>
            </a:solidFill>
            <a:prstDash val="solid"/>
          </a:ln>
        </p:spPr>
      </p:sp>
      <p:sp>
        <p:nvSpPr>
          <p:cNvPr id="14" name="GitOps circle"/>
          <p:cNvSpPr/>
          <p:nvPr/>
        </p:nvSpPr>
        <p:spPr>
          <a:xfrm>
            <a:off x="8275320" y="1600200"/>
            <a:ext cx="548640" cy="548640"/>
          </a:xfrm>
          <a:prstGeom prst="ellipse">
            <a:avLst/>
          </a:prstGeom>
          <a:solidFill>
            <a:schemeClr val="accent1"/>
          </a:solidFill>
          <a:ln w="12700">
            <a:solidFill>
              <a:schemeClr val="accent1"/>
            </a:solidFill>
            <a:prstDash val="solid"/>
          </a:ln>
        </p:spPr>
      </p:sp>
      <p:pic>
        <p:nvPicPr>
          <p:cNvPr id="15" name="GitOps icon" descr="preencoded.png">    </p:cNvPr>
          <p:cNvPicPr>
            <a:picLocks noChangeAspect="1"/>
          </p:cNvPicPr>
          <p:nvPr/>
        </p:nvPicPr>
        <p:blipFill>
          <a:blip r:embed="rId3"/>
          <a:stretch>
            <a:fillRect/>
          </a:stretch>
        </p:blipFill>
        <p:spPr>
          <a:xfrm>
            <a:off x="8417966" y="1742846"/>
            <a:ext cx="263347" cy="263347"/>
          </a:xfrm>
          <a:prstGeom prst="rect">
            <a:avLst/>
          </a:prstGeom>
        </p:spPr>
      </p:pic>
      <p:sp>
        <p:nvSpPr>
          <p:cNvPr id="16" name="GitOps title"/>
          <p:cNvSpPr txBox="1"/>
          <p:nvPr/>
        </p:nvSpPr>
        <p:spPr>
          <a:xfrm>
            <a:off x="8961120" y="157276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GitOps</a:t>
            </a:r>
            <a:endParaRPr lang="en-US" sz="1600" dirty="0"/>
          </a:p>
        </p:txBody>
      </p:sp>
      <p:sp>
        <p:nvSpPr>
          <p:cNvPr id="17" name="GitOps text"/>
          <p:cNvSpPr txBox="1"/>
          <p:nvPr/>
        </p:nvSpPr>
        <p:spPr>
          <a:xfrm>
            <a:off x="8275320" y="2286000"/>
            <a:ext cx="3017520" cy="1051560"/>
          </a:xfrm>
          <a:prstGeom prst="rect">
            <a:avLst/>
          </a:prstGeom>
          <a:noFill/>
          <a:ln/>
        </p:spPr>
        <p:txBody>
          <a:bodyPr wrap="square" lIns="0" tIns="0" rIns="0" bIns="0" rtlCol="0" anchor="t"/>
          <a:lstStyle/>
          <a:p>
            <a:pPr indent="0" marL="0">
              <a:buNone/>
            </a:pPr>
            <a:r>
              <a:rPr lang="en-US" sz="1400" dirty="0">
                <a:solidFill>
                  <a:schemeClr val="tx1"/>
                </a:solidFill>
              </a:rPr>
              <a:t>Argo CD syncing the Helm chart from Git</a:t>
            </a:r>
            <a:endParaRPr lang="en-US" sz="1400" dirty="0"/>
          </a:p>
        </p:txBody>
      </p:sp>
      <p:sp>
        <p:nvSpPr>
          <p:cNvPr id="18" name="Autoscaling card"/>
          <p:cNvSpPr/>
          <p:nvPr/>
        </p:nvSpPr>
        <p:spPr>
          <a:xfrm>
            <a:off x="548640" y="3749040"/>
            <a:ext cx="3474720" cy="2103120"/>
          </a:xfrm>
          <a:prstGeom prst="roundRect">
            <a:avLst>
              <a:gd name="adj" fmla="val 5217"/>
            </a:avLst>
          </a:prstGeom>
          <a:solidFill>
            <a:schemeClr val="bg2"/>
          </a:solidFill>
          <a:ln w="12700">
            <a:solidFill>
              <a:schemeClr val="bg2"/>
            </a:solidFill>
            <a:prstDash val="solid"/>
          </a:ln>
        </p:spPr>
      </p:sp>
      <p:sp>
        <p:nvSpPr>
          <p:cNvPr id="19" name="Autoscaling circle"/>
          <p:cNvSpPr/>
          <p:nvPr/>
        </p:nvSpPr>
        <p:spPr>
          <a:xfrm>
            <a:off x="777240" y="3977640"/>
            <a:ext cx="548640" cy="548640"/>
          </a:xfrm>
          <a:prstGeom prst="ellipse">
            <a:avLst/>
          </a:prstGeom>
          <a:solidFill>
            <a:schemeClr val="accent1"/>
          </a:solidFill>
          <a:ln w="12700">
            <a:solidFill>
              <a:schemeClr val="accent1"/>
            </a:solidFill>
            <a:prstDash val="solid"/>
          </a:ln>
        </p:spPr>
      </p:sp>
      <p:pic>
        <p:nvPicPr>
          <p:cNvPr id="20" name="Autoscaling icon" descr="preencoded.png">    </p:cNvPr>
          <p:cNvPicPr>
            <a:picLocks noChangeAspect="1"/>
          </p:cNvPicPr>
          <p:nvPr/>
        </p:nvPicPr>
        <p:blipFill>
          <a:blip r:embed="rId4"/>
          <a:stretch>
            <a:fillRect/>
          </a:stretch>
        </p:blipFill>
        <p:spPr>
          <a:xfrm>
            <a:off x="919886" y="4120286"/>
            <a:ext cx="263347" cy="263347"/>
          </a:xfrm>
          <a:prstGeom prst="rect">
            <a:avLst/>
          </a:prstGeom>
        </p:spPr>
      </p:pic>
      <p:sp>
        <p:nvSpPr>
          <p:cNvPr id="21" name="Autoscaling title"/>
          <p:cNvSpPr txBox="1"/>
          <p:nvPr/>
        </p:nvSpPr>
        <p:spPr>
          <a:xfrm>
            <a:off x="1463040" y="395020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Autoscaling</a:t>
            </a:r>
            <a:endParaRPr lang="en-US" sz="1600" dirty="0"/>
          </a:p>
        </p:txBody>
      </p:sp>
      <p:sp>
        <p:nvSpPr>
          <p:cNvPr id="22" name="Autoscaling text"/>
          <p:cNvSpPr txBox="1"/>
          <p:nvPr/>
        </p:nvSpPr>
        <p:spPr>
          <a:xfrm>
            <a:off x="777240" y="4663440"/>
            <a:ext cx="3017520" cy="1051560"/>
          </a:xfrm>
          <a:prstGeom prst="rect">
            <a:avLst/>
          </a:prstGeom>
          <a:noFill/>
          <a:ln/>
        </p:spPr>
        <p:txBody>
          <a:bodyPr wrap="square" lIns="0" tIns="0" rIns="0" bIns="0" rtlCol="0" anchor="t"/>
          <a:lstStyle/>
          <a:p>
            <a:pPr indent="0" marL="0">
              <a:buNone/>
            </a:pPr>
            <a:r>
              <a:rPr lang="en-US" sz="1400" dirty="0">
                <a:solidFill>
                  <a:schemeClr val="tx1"/>
                </a:solidFill>
              </a:rPr>
              <a:t>HPA for pods, Karpenter for nodes</a:t>
            </a:r>
            <a:endParaRPr lang="en-US" sz="1400" dirty="0"/>
          </a:p>
        </p:txBody>
      </p:sp>
      <p:sp>
        <p:nvSpPr>
          <p:cNvPr id="23" name="Security scanning card"/>
          <p:cNvSpPr/>
          <p:nvPr/>
        </p:nvSpPr>
        <p:spPr>
          <a:xfrm>
            <a:off x="4297680" y="3749040"/>
            <a:ext cx="3474720" cy="2103120"/>
          </a:xfrm>
          <a:prstGeom prst="roundRect">
            <a:avLst>
              <a:gd name="adj" fmla="val 5217"/>
            </a:avLst>
          </a:prstGeom>
          <a:solidFill>
            <a:schemeClr val="bg2"/>
          </a:solidFill>
          <a:ln w="12700">
            <a:solidFill>
              <a:schemeClr val="bg2"/>
            </a:solidFill>
            <a:prstDash val="solid"/>
          </a:ln>
        </p:spPr>
      </p:sp>
      <p:sp>
        <p:nvSpPr>
          <p:cNvPr id="24" name="Security scanning circle"/>
          <p:cNvSpPr/>
          <p:nvPr/>
        </p:nvSpPr>
        <p:spPr>
          <a:xfrm>
            <a:off x="4526280" y="3977640"/>
            <a:ext cx="548640" cy="548640"/>
          </a:xfrm>
          <a:prstGeom prst="ellipse">
            <a:avLst/>
          </a:prstGeom>
          <a:solidFill>
            <a:schemeClr val="accent1"/>
          </a:solidFill>
          <a:ln w="12700">
            <a:solidFill>
              <a:schemeClr val="accent1"/>
            </a:solidFill>
            <a:prstDash val="solid"/>
          </a:ln>
        </p:spPr>
      </p:sp>
      <p:pic>
        <p:nvPicPr>
          <p:cNvPr id="25" name="Security scanning icon" descr="preencoded.png">    </p:cNvPr>
          <p:cNvPicPr>
            <a:picLocks noChangeAspect="1"/>
          </p:cNvPicPr>
          <p:nvPr/>
        </p:nvPicPr>
        <p:blipFill>
          <a:blip r:embed="rId5"/>
          <a:stretch>
            <a:fillRect/>
          </a:stretch>
        </p:blipFill>
        <p:spPr>
          <a:xfrm>
            <a:off x="4668926" y="4120286"/>
            <a:ext cx="263347" cy="263347"/>
          </a:xfrm>
          <a:prstGeom prst="rect">
            <a:avLst/>
          </a:prstGeom>
        </p:spPr>
      </p:pic>
      <p:sp>
        <p:nvSpPr>
          <p:cNvPr id="26" name="Security scanning title"/>
          <p:cNvSpPr txBox="1"/>
          <p:nvPr/>
        </p:nvSpPr>
        <p:spPr>
          <a:xfrm>
            <a:off x="5212080" y="395020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Security scanning</a:t>
            </a:r>
            <a:endParaRPr lang="en-US" sz="1600" dirty="0"/>
          </a:p>
        </p:txBody>
      </p:sp>
      <p:sp>
        <p:nvSpPr>
          <p:cNvPr id="27" name="Security scanning text"/>
          <p:cNvSpPr txBox="1"/>
          <p:nvPr/>
        </p:nvSpPr>
        <p:spPr>
          <a:xfrm>
            <a:off x="4526280" y="4663440"/>
            <a:ext cx="3017520" cy="1051560"/>
          </a:xfrm>
          <a:prstGeom prst="rect">
            <a:avLst/>
          </a:prstGeom>
          <a:noFill/>
          <a:ln/>
        </p:spPr>
        <p:txBody>
          <a:bodyPr wrap="square" lIns="0" tIns="0" rIns="0" bIns="0" rtlCol="0" anchor="t"/>
          <a:lstStyle/>
          <a:p>
            <a:pPr indent="0" marL="0">
              <a:buNone/>
            </a:pPr>
            <a:r>
              <a:rPr lang="en-US" sz="1400" dirty="0">
                <a:solidFill>
                  <a:schemeClr val="tx1"/>
                </a:solidFill>
              </a:rPr>
              <a:t>Trivy and SonarQube stages in the pipeline</a:t>
            </a:r>
            <a:endParaRPr lang="en-US" sz="1400" dirty="0"/>
          </a:p>
        </p:txBody>
      </p:sp>
      <p:sp>
        <p:nvSpPr>
          <p:cNvPr id="28" name="Second cloud card"/>
          <p:cNvSpPr/>
          <p:nvPr/>
        </p:nvSpPr>
        <p:spPr>
          <a:xfrm>
            <a:off x="8046720" y="3749040"/>
            <a:ext cx="3474720" cy="2103120"/>
          </a:xfrm>
          <a:prstGeom prst="roundRect">
            <a:avLst>
              <a:gd name="adj" fmla="val 5217"/>
            </a:avLst>
          </a:prstGeom>
          <a:solidFill>
            <a:schemeClr val="bg2"/>
          </a:solidFill>
          <a:ln w="12700">
            <a:solidFill>
              <a:schemeClr val="bg2"/>
            </a:solidFill>
            <a:prstDash val="solid"/>
          </a:ln>
        </p:spPr>
      </p:sp>
      <p:sp>
        <p:nvSpPr>
          <p:cNvPr id="29" name="Second cloud circle"/>
          <p:cNvSpPr/>
          <p:nvPr/>
        </p:nvSpPr>
        <p:spPr>
          <a:xfrm>
            <a:off x="8275320" y="3977640"/>
            <a:ext cx="548640" cy="548640"/>
          </a:xfrm>
          <a:prstGeom prst="ellipse">
            <a:avLst/>
          </a:prstGeom>
          <a:solidFill>
            <a:schemeClr val="accent1"/>
          </a:solidFill>
          <a:ln w="12700">
            <a:solidFill>
              <a:schemeClr val="accent1"/>
            </a:solidFill>
            <a:prstDash val="solid"/>
          </a:ln>
        </p:spPr>
      </p:sp>
      <p:pic>
        <p:nvPicPr>
          <p:cNvPr id="30" name="Second cloud icon" descr="preencoded.png">    </p:cNvPr>
          <p:cNvPicPr>
            <a:picLocks noChangeAspect="1"/>
          </p:cNvPicPr>
          <p:nvPr/>
        </p:nvPicPr>
        <p:blipFill>
          <a:blip r:embed="rId6"/>
          <a:stretch>
            <a:fillRect/>
          </a:stretch>
        </p:blipFill>
        <p:spPr>
          <a:xfrm>
            <a:off x="8417966" y="4120286"/>
            <a:ext cx="263347" cy="263347"/>
          </a:xfrm>
          <a:prstGeom prst="rect">
            <a:avLst/>
          </a:prstGeom>
        </p:spPr>
      </p:pic>
      <p:sp>
        <p:nvSpPr>
          <p:cNvPr id="31" name="Second cloud title"/>
          <p:cNvSpPr txBox="1"/>
          <p:nvPr/>
        </p:nvSpPr>
        <p:spPr>
          <a:xfrm>
            <a:off x="8961120" y="3950208"/>
            <a:ext cx="2377440" cy="594360"/>
          </a:xfrm>
          <a:prstGeom prst="rect">
            <a:avLst/>
          </a:prstGeom>
          <a:noFill/>
          <a:ln/>
        </p:spPr>
        <p:txBody>
          <a:bodyPr wrap="square" lIns="0" tIns="0" rIns="0" bIns="0" rtlCol="0" anchor="ctr"/>
          <a:lstStyle/>
          <a:p>
            <a:pPr indent="0" marL="0">
              <a:buNone/>
            </a:pPr>
            <a:r>
              <a:rPr lang="en-US" sz="1600" b="1" dirty="0">
                <a:solidFill>
                  <a:schemeClr val="tx1"/>
                </a:solidFill>
              </a:rPr>
              <a:t>Second cloud</a:t>
            </a:r>
            <a:endParaRPr lang="en-US" sz="1600" dirty="0"/>
          </a:p>
        </p:txBody>
      </p:sp>
      <p:sp>
        <p:nvSpPr>
          <p:cNvPr id="32" name="Second cloud text"/>
          <p:cNvSpPr txBox="1"/>
          <p:nvPr/>
        </p:nvSpPr>
        <p:spPr>
          <a:xfrm>
            <a:off x="8275320" y="4663440"/>
            <a:ext cx="3017520" cy="1051560"/>
          </a:xfrm>
          <a:prstGeom prst="rect">
            <a:avLst/>
          </a:prstGeom>
          <a:noFill/>
          <a:ln/>
        </p:spPr>
        <p:txBody>
          <a:bodyPr wrap="square" lIns="0" tIns="0" rIns="0" bIns="0" rtlCol="0" anchor="t"/>
          <a:lstStyle/>
          <a:p>
            <a:pPr indent="0" marL="0">
              <a:buNone/>
            </a:pPr>
            <a:r>
              <a:rPr lang="en-US" sz="1400" dirty="0">
                <a:solidFill>
                  <a:schemeClr val="tx1"/>
                </a:solidFill>
              </a:rPr>
              <a:t>Azure AKS with the same chart and images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lIns="0" tIns="0" rIns="0" bIns="0" rtlCol="0" anchor="b"/>
          <a:lstStyle/>
          <a:p>
            <a:pPr algn="l" indent="0" marL="0">
              <a:buNone/>
            </a:pPr>
            <a:r>
              <a:rPr lang="en-US" sz="4800" b="1" dirty="0">
                <a:solidFill>
                  <a:schemeClr val="bg1"/>
                </a:solidFill>
              </a:rPr>
              <a:t>One push. Tested, versioned, deployed, and switched off when idle.</a:t>
            </a:r>
            <a:endParaRPr lang="en-US" sz="4800" dirty="0"/>
          </a:p>
        </p:txBody>
      </p:sp>
      <p:sp>
        <p:nvSpPr>
          <p:cNvPr id="3" name="Text 0"/>
          <p:cNvSpPr/>
          <p:nvPr>
            <p:ph idx="101" type="body" hasCustomPrompt="1"/>
          </p:nvPr>
        </p:nvSpPr>
        <p:spPr>
          <a:xfrm>
            <a:off x="731520" y="3383280"/>
            <a:ext cx="10058400" cy="1188720"/>
          </a:xfrm>
          <a:prstGeom prst="rect">
            <a:avLst/>
          </a:prstGeom>
          <a:noFill/>
          <a:ln/>
        </p:spPr>
        <p:txBody>
          <a:bodyPr wrap="square" lIns="0" tIns="0" rIns="0" bIns="0" rtlCol="0" anchor="t"/>
          <a:lstStyle/>
          <a:p>
            <a:pPr algn="l" indent="0" marL="0">
              <a:buNone/>
            </a:pPr>
            <a:r>
              <a:rPr lang="en-US" sz="2000" dirty="0">
                <a:solidFill>
                  <a:schemeClr val="bg2"/>
                </a:solidFill>
              </a:rPr>
              <a:t>Questions?</a:t>
            </a:r>
            <a:endParaRPr lang="en-US" sz="2000" dirty="0"/>
          </a:p>
        </p:txBody>
      </p:sp>
      <p:sp>
        <p:nvSpPr>
          <p:cNvPr id="4" name="logo circle"/>
          <p:cNvSpPr/>
          <p:nvPr/>
        </p:nvSpPr>
        <p:spPr>
          <a:xfrm>
            <a:off x="731520" y="731520"/>
            <a:ext cx="822960" cy="822960"/>
          </a:xfrm>
          <a:prstGeom prst="ellipse">
            <a:avLst/>
          </a:prstGeom>
          <a:solidFill>
            <a:schemeClr val="accent2"/>
          </a:solidFill>
          <a:ln w="12700">
            <a:solidFill>
              <a:schemeClr val="accent2"/>
            </a:solidFill>
            <a:prstDash val="solid"/>
          </a:ln>
        </p:spPr>
      </p:sp>
      <p:pic>
        <p:nvPicPr>
          <p:cNvPr id="5" name="logo icon" descr="preencoded.png">    </p:cNvPr>
          <p:cNvPicPr>
            <a:picLocks noChangeAspect="1"/>
          </p:cNvPicPr>
          <p:nvPr/>
        </p:nvPicPr>
        <p:blipFill>
          <a:blip r:embed="rId1"/>
          <a:stretch>
            <a:fillRect/>
          </a:stretch>
        </p:blipFill>
        <p:spPr>
          <a:xfrm>
            <a:off x="945490" y="945490"/>
            <a:ext cx="395021" cy="395021"/>
          </a:xfrm>
          <a:prstGeom prst="rect">
            <a:avLst/>
          </a:prstGeom>
        </p:spPr>
      </p:pic>
    </p:spTree>
  </p:cSld>
  <p:clrMapOvr>
    <a:masterClrMapping/>
  </p:clrMapOvr>
</p:sld>
</file>

<file path=ppt/theme/theme1.xml><?xml version="1.0" encoding="utf-8"?>
<a:theme xmlns:a="http://schemas.openxmlformats.org/drawingml/2006/main" name="PeoplePulse">
  <a:themeElements>
    <a:clrScheme name="PeoplePulse">
      <a:dk1>
        <a:srgbClr val="0B3C49"/>
      </a:dk1>
      <a:lt1>
        <a:srgbClr val="FFFFFF"/>
      </a:lt1>
      <a:dk2>
        <a:srgbClr val="1C7C7D"/>
      </a:dk2>
      <a:lt2>
        <a:srgbClr val="E6F0F1"/>
      </a:lt2>
      <a:accent1>
        <a:srgbClr val="1C7C7D"/>
      </a:accent1>
      <a:accent2>
        <a:srgbClr val="F25F5C"/>
      </a:accent2>
      <a:accent3>
        <a:srgbClr val="F2A541"/>
      </a:accent3>
      <a:accent4>
        <a:srgbClr val="0B3C49"/>
      </a:accent4>
      <a:accent5>
        <a:srgbClr val="7FB2B3"/>
      </a:accent5>
      <a:accent6>
        <a:srgbClr val="5B6B73"/>
      </a:accent6>
      <a:hlink>
        <a:srgbClr val="1C7C7D"/>
      </a:hlink>
      <a:folHlink>
        <a:srgbClr val="5B6B73"/>
      </a:folHlink>
    </a:clrScheme>
    <a:fontScheme name="People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PeoplePulse on AWS</dc:title>
  <dc:subject>PeoplePulse: architecture, CI/CD and operations on AWS</dc:subject>
  <dc:creator>Saket Saurabh</dc:creator>
  <cp:lastModifiedBy>Saket Saurabh</cp:lastModifiedBy>
  <cp:revision>1</cp:revision>
  <dcterms:created xsi:type="dcterms:W3CDTF">2026-10-07T12:06:11Z</dcterms:created>
  <dcterms:modified xsi:type="dcterms:W3CDTF">2026-10-07T12:06:11Z</dcterms:modified>
</cp:coreProperties>
</file>